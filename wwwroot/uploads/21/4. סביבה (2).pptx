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78" r:id="rId2"/>
    <p:sldId id="261" r:id="rId3"/>
    <p:sldId id="262" r:id="rId4"/>
    <p:sldId id="263" r:id="rId5"/>
    <p:sldId id="264" r:id="rId6"/>
    <p:sldId id="270" r:id="rId7"/>
    <p:sldId id="271" r:id="rId8"/>
    <p:sldId id="265" r:id="rId9"/>
    <p:sldId id="266" r:id="rId10"/>
    <p:sldId id="267" r:id="rId11"/>
    <p:sldId id="268" r:id="rId12"/>
    <p:sldId id="277" r:id="rId13"/>
    <p:sldId id="292" r:id="rId14"/>
    <p:sldId id="272" r:id="rId15"/>
    <p:sldId id="299" r:id="rId16"/>
    <p:sldId id="348" r:id="rId17"/>
    <p:sldId id="343" r:id="rId18"/>
    <p:sldId id="342" r:id="rId19"/>
    <p:sldId id="283" r:id="rId20"/>
    <p:sldId id="344" r:id="rId21"/>
    <p:sldId id="349" r:id="rId22"/>
    <p:sldId id="293" r:id="rId23"/>
    <p:sldId id="304" r:id="rId24"/>
    <p:sldId id="295" r:id="rId25"/>
    <p:sldId id="288" r:id="rId26"/>
    <p:sldId id="256" r:id="rId27"/>
    <p:sldId id="279" r:id="rId28"/>
    <p:sldId id="345" r:id="rId29"/>
    <p:sldId id="346" r:id="rId30"/>
    <p:sldId id="338" r:id="rId31"/>
    <p:sldId id="347" r:id="rId32"/>
    <p:sldId id="350" r:id="rId33"/>
    <p:sldId id="351" r:id="rId34"/>
    <p:sldId id="352" r:id="rId35"/>
    <p:sldId id="353" r:id="rId36"/>
    <p:sldId id="273" r:id="rId37"/>
    <p:sldId id="354" r:id="rId38"/>
    <p:sldId id="336" r:id="rId39"/>
    <p:sldId id="296" r:id="rId40"/>
    <p:sldId id="286" r:id="rId41"/>
    <p:sldId id="298" r:id="rId42"/>
    <p:sldId id="337" r:id="rId43"/>
  </p:sldIdLst>
  <p:sldSz cx="12192000" cy="6858000"/>
  <p:notesSz cx="6858000" cy="9144000"/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38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" y="-1"/>
            <a:ext cx="7317105" cy="6858001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618968" y="609602"/>
            <a:ext cx="3963432" cy="4724399"/>
          </a:xfrm>
        </p:spPr>
        <p:txBody>
          <a:bodyPr>
            <a:normAutofit/>
          </a:bodyPr>
          <a:lstStyle>
            <a:lvl1pPr algn="r" rtl="1" latinLnBrk="0">
              <a:defRPr lang="he-IL" sz="3001"/>
            </a:lvl1pPr>
          </a:lstStyle>
          <a:p>
            <a:pPr algn="r" rtl="1"/>
            <a:r>
              <a:rPr lang="he-IL" dirty="0"/>
              <a:t>לחץ כדי לערוך סגנון כותרת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2554598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620397" y="685800"/>
            <a:ext cx="3963432" cy="3607296"/>
          </a:xfrm>
        </p:spPr>
        <p:txBody>
          <a:bodyPr anchor="b">
            <a:noAutofit/>
          </a:bodyPr>
          <a:lstStyle>
            <a:lvl1pPr algn="r" latinLnBrk="0">
              <a:defRPr lang="he-IL" sz="3600" b="0">
                <a:latin typeface="Alef" panose="00000500000000000000" pitchFamily="2" charset="-79"/>
                <a:cs typeface="Alef" panose="00000500000000000000" pitchFamily="2" charset="-79"/>
              </a:defRPr>
            </a:lvl1pPr>
          </a:lstStyle>
          <a:p>
            <a:pPr algn="r" rtl="1"/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09600" y="699961"/>
            <a:ext cx="6705917" cy="5486400"/>
          </a:xfrm>
        </p:spPr>
        <p:txBody>
          <a:bodyPr>
            <a:normAutofit/>
          </a:bodyPr>
          <a:lstStyle>
            <a:lvl1pPr algn="r" latinLnBrk="0">
              <a:defRPr lang="he-IL" sz="2400">
                <a:latin typeface="Alef" panose="00000500000000000000" pitchFamily="2" charset="-79"/>
                <a:cs typeface="Alef" panose="00000500000000000000" pitchFamily="2" charset="-79"/>
              </a:defRPr>
            </a:lvl1pPr>
            <a:lvl2pPr algn="r" latinLnBrk="0">
              <a:defRPr lang="he-IL" sz="2000">
                <a:latin typeface="Alef" panose="00000500000000000000" pitchFamily="2" charset="-79"/>
                <a:cs typeface="Alef" panose="00000500000000000000" pitchFamily="2" charset="-79"/>
              </a:defRPr>
            </a:lvl2pPr>
            <a:lvl3pPr algn="r" latinLnBrk="0">
              <a:defRPr lang="he-IL" sz="1500">
                <a:latin typeface="Alef" panose="00000500000000000000" pitchFamily="2" charset="-79"/>
                <a:cs typeface="Alef" panose="00000500000000000000" pitchFamily="2" charset="-79"/>
              </a:defRPr>
            </a:lvl3pPr>
            <a:lvl4pPr algn="r" latinLnBrk="0">
              <a:defRPr lang="he-IL" sz="1350">
                <a:latin typeface="Alef" panose="00000500000000000000" pitchFamily="2" charset="-79"/>
                <a:cs typeface="Alef" panose="00000500000000000000" pitchFamily="2" charset="-79"/>
              </a:defRPr>
            </a:lvl4pPr>
            <a:lvl5pPr algn="r" latinLnBrk="0">
              <a:defRPr lang="he-IL" sz="1350">
                <a:latin typeface="Alef" panose="00000500000000000000" pitchFamily="2" charset="-79"/>
                <a:cs typeface="Alef" panose="00000500000000000000" pitchFamily="2" charset="-79"/>
              </a:defRPr>
            </a:lvl5pPr>
            <a:lvl6pPr algn="r" latinLnBrk="0">
              <a:defRPr lang="he-IL" sz="1350" baseline="0"/>
            </a:lvl6pPr>
            <a:lvl7pPr algn="r" latinLnBrk="0">
              <a:defRPr lang="he-IL" sz="1350" baseline="0"/>
            </a:lvl7pPr>
            <a:lvl8pPr algn="r" latinLnBrk="0">
              <a:defRPr lang="he-IL" sz="1350" baseline="0"/>
            </a:lvl8pPr>
            <a:lvl9pPr algn="r" latinLnBrk="0">
              <a:defRPr lang="he-IL" sz="1350" baseline="0"/>
            </a:lvl9pPr>
          </a:lstStyle>
          <a:p>
            <a:pPr lvl="0" algn="r" rtl="1"/>
            <a:r>
              <a:rPr lang="he-IL" dirty="0"/>
              <a:t>ערוך סגנונות טקסט של תבנית בסיס</a:t>
            </a:r>
          </a:p>
          <a:p>
            <a:pPr lvl="1" algn="r" rtl="1"/>
            <a:r>
              <a:rPr lang="he-IL" dirty="0"/>
              <a:t>רמה שניה</a:t>
            </a:r>
          </a:p>
          <a:p>
            <a:pPr lvl="2" algn="r" rtl="1"/>
            <a:r>
              <a:rPr lang="he-IL" dirty="0"/>
              <a:t>רמה שלישית</a:t>
            </a:r>
          </a:p>
          <a:p>
            <a:pPr lvl="3" algn="r" rtl="1"/>
            <a:r>
              <a:rPr lang="he-IL" dirty="0"/>
              <a:t>רמה רביעית</a:t>
            </a:r>
          </a:p>
          <a:p>
            <a:pPr lvl="4" algn="r" rtl="1"/>
            <a:r>
              <a:rPr lang="he-IL" dirty="0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278953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46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2322-B452-481A-9201-9E4C3FFF386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9434-D39B-4A39-BB9E-BE39C0D96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0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כותרת 1"/>
          <p:cNvSpPr>
            <a:spLocks noGrp="1"/>
          </p:cNvSpPr>
          <p:nvPr>
            <p:ph type="title"/>
          </p:nvPr>
        </p:nvSpPr>
        <p:spPr>
          <a:xfrm>
            <a:off x="621966" y="519805"/>
            <a:ext cx="10961028" cy="892973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algn="r" rtl="1"/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1967" y="1772818"/>
            <a:ext cx="10937920" cy="4190999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 algn="r" rtl="1"/>
            <a:r>
              <a:rPr lang="he-IL" dirty="0"/>
              <a:t>לחץ כדי לערוך סגנונות טקסט של תבנית בסיס</a:t>
            </a:r>
          </a:p>
          <a:p>
            <a:pPr lvl="1" algn="r" rtl="1"/>
            <a:r>
              <a:rPr lang="he-IL" dirty="0"/>
              <a:t>רמה שניה</a:t>
            </a:r>
          </a:p>
          <a:p>
            <a:pPr lvl="2" algn="r" rtl="1"/>
            <a:r>
              <a:rPr lang="he-IL" dirty="0"/>
              <a:t>רמה שלישית</a:t>
            </a:r>
          </a:p>
          <a:p>
            <a:pPr lvl="3" algn="r" rtl="1"/>
            <a:r>
              <a:rPr lang="he-IL" dirty="0"/>
              <a:t>רמה רביעית</a:t>
            </a:r>
          </a:p>
          <a:p>
            <a:pPr lvl="4" algn="r" rtl="1"/>
            <a:r>
              <a:rPr lang="he-IL" dirty="0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2786789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r" defTabSz="685983" rtl="0" eaLnBrk="1" latinLnBrk="0" hangingPunct="1">
        <a:lnSpc>
          <a:spcPct val="80000"/>
        </a:lnSpc>
        <a:spcBef>
          <a:spcPct val="0"/>
        </a:spcBef>
        <a:buNone/>
        <a:defRPr lang="he-IL" sz="3600" kern="1200">
          <a:solidFill>
            <a:schemeClr val="accent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1pPr>
    </p:titleStyle>
    <p:bodyStyle>
      <a:lvl1pPr marL="171496" indent="-171496" algn="r" defTabSz="685983" rtl="1" eaLnBrk="1" latinLnBrk="0" hangingPunct="1">
        <a:lnSpc>
          <a:spcPct val="90000"/>
        </a:lnSpc>
        <a:spcBef>
          <a:spcPts val="1350"/>
        </a:spcBef>
        <a:buClr>
          <a:schemeClr val="tx1"/>
        </a:buClr>
        <a:buSzPct val="80000"/>
        <a:buFont typeface="Arial" pitchFamily="34" charset="0"/>
        <a:buChar char="•"/>
        <a:defRPr lang="he-IL" sz="240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1pPr>
      <a:lvl2pPr marL="462086" indent="-214370" algn="r" defTabSz="685983" rtl="1" eaLnBrk="1" latinLnBrk="0" hangingPunct="1">
        <a:lnSpc>
          <a:spcPct val="90000"/>
        </a:lnSpc>
        <a:spcBef>
          <a:spcPts val="450"/>
        </a:spcBef>
        <a:buSzPct val="80000"/>
        <a:buFont typeface="Corbel" pitchFamily="34" charset="0"/>
        <a:buChar char="–"/>
        <a:defRPr lang="he-IL" sz="200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2pPr>
      <a:lvl3pPr marL="747721" indent="-171496" algn="r" defTabSz="685983" rtl="1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itchFamily="34" charset="0"/>
        <a:buChar char="•"/>
        <a:defRPr lang="he-IL" sz="150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3pPr>
      <a:lvl4pPr marL="1035834" indent="-212655" algn="r" defTabSz="685983" rtl="1" eaLnBrk="1" latinLnBrk="0" hangingPunct="1">
        <a:lnSpc>
          <a:spcPct val="90000"/>
        </a:lnSpc>
        <a:spcBef>
          <a:spcPts val="450"/>
        </a:spcBef>
        <a:buFont typeface="Corbel" pitchFamily="34" charset="0"/>
        <a:buChar char="–"/>
        <a:defRPr lang="he-IL" sz="135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4pPr>
      <a:lvl5pPr marL="1323947" indent="-171496" algn="r" defTabSz="685983" rtl="1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itchFamily="34" charset="0"/>
        <a:buChar char="•"/>
        <a:defRPr lang="he-IL" sz="1350" kern="1200">
          <a:solidFill>
            <a:schemeClr val="tx1"/>
          </a:solidFill>
          <a:latin typeface="Alef" panose="00000500000000000000" pitchFamily="2" charset="-79"/>
          <a:ea typeface="Tahoma" panose="020B0604030504040204" pitchFamily="34" charset="0"/>
          <a:cs typeface="Alef" panose="00000500000000000000" pitchFamily="2" charset="-79"/>
        </a:defRPr>
      </a:lvl5pPr>
      <a:lvl6pPr marL="1612060" indent="-212655" algn="r" defTabSz="685983" rtl="0" eaLnBrk="1" latinLnBrk="0" hangingPunct="1">
        <a:lnSpc>
          <a:spcPct val="90000"/>
        </a:lnSpc>
        <a:spcBef>
          <a:spcPts val="450"/>
        </a:spcBef>
        <a:buFont typeface="Corbel" pitchFamily="34" charset="0"/>
        <a:buChar char="–"/>
        <a:defRPr lang="he-IL"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00173" indent="-171496" algn="r" defTabSz="685983" rtl="0" eaLnBrk="1" latinLnBrk="0" hangingPunct="1">
        <a:lnSpc>
          <a:spcPct val="90000"/>
        </a:lnSpc>
        <a:spcBef>
          <a:spcPts val="450"/>
        </a:spcBef>
        <a:buSzPct val="80000"/>
        <a:buFont typeface="Arial" pitchFamily="34" charset="0"/>
        <a:buChar char="•"/>
        <a:defRPr lang="he-IL"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88285" indent="-212655" algn="r" defTabSz="685983" rtl="0" eaLnBrk="1" latinLnBrk="0" hangingPunct="1">
        <a:lnSpc>
          <a:spcPct val="90000"/>
        </a:lnSpc>
        <a:spcBef>
          <a:spcPts val="450"/>
        </a:spcBef>
        <a:buFont typeface="Corbel" pitchFamily="34" charset="0"/>
        <a:buChar char="–"/>
        <a:defRPr lang="he-IL"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476398" indent="-171496" algn="r" defTabSz="685983" rtl="0" eaLnBrk="1" latinLnBrk="0" hangingPunct="1">
        <a:lnSpc>
          <a:spcPct val="90000"/>
        </a:lnSpc>
        <a:spcBef>
          <a:spcPts val="450"/>
        </a:spcBef>
        <a:buSzPct val="80000"/>
        <a:buFont typeface="Arial" pitchFamily="34" charset="0"/>
        <a:buChar char="•"/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r" defTabSz="685983" rtl="0" eaLnBrk="1" latinLnBrk="0" hangingPunct="1">
        <a:defRPr lang="he-IL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youtu.be/mYF2_FBCvXw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cmag.com/news/apple-will-be-more-reliant-on-samsung-display-for-iphone-15-productio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br>
              <a:rPr lang="he-IL" sz="5400" dirty="0"/>
            </a:br>
            <a:r>
              <a:rPr lang="he-IL" sz="5400" dirty="0"/>
              <a:t>4. סביבה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76174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6C8A89-9402-4036-A600-92B3BA1C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4231" y="1196752"/>
            <a:ext cx="3399597" cy="3096344"/>
          </a:xfrm>
        </p:spPr>
        <p:txBody>
          <a:bodyPr anchor="t"/>
          <a:lstStyle/>
          <a:p>
            <a:r>
              <a:rPr lang="he-IL" dirty="0"/>
              <a:t>מהם המאפיינים של אסטרטגיות מוצלחות?</a:t>
            </a:r>
            <a:endParaRPr lang="en-GB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D7EE41F-889D-4FA7-80CE-187DB514F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  <a:p>
            <a:r>
              <a:rPr lang="he-IL" dirty="0"/>
              <a:t>מטרות ברורות, עקביות וארוכות טווח</a:t>
            </a:r>
          </a:p>
          <a:p>
            <a:r>
              <a:rPr lang="he-IL" b="1" dirty="0"/>
              <a:t>הבנה מעמיקה של הסביבה התחרותית</a:t>
            </a:r>
          </a:p>
          <a:p>
            <a:r>
              <a:rPr lang="he-IL" dirty="0"/>
              <a:t>הערכה אובייקטיבית של משאבים</a:t>
            </a:r>
          </a:p>
          <a:p>
            <a:r>
              <a:rPr lang="he-IL" dirty="0"/>
              <a:t>יישום אפקטיבי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8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1124744"/>
            <a:ext cx="3034188" cy="3168352"/>
          </a:xfrm>
        </p:spPr>
        <p:txBody>
          <a:bodyPr anchor="t">
            <a:normAutofit/>
          </a:bodyPr>
          <a:lstStyle/>
          <a:p>
            <a:pPr algn="r" rtl="1"/>
            <a:r>
              <a:rPr lang="he-IL" sz="4000" dirty="0"/>
              <a:t>מה קובע את רמת הרווחיות בתעשייה?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944" y="699961"/>
            <a:ext cx="7086600" cy="5486400"/>
          </a:xfrm>
        </p:spPr>
        <p:txBody>
          <a:bodyPr>
            <a:normAutofit/>
          </a:bodyPr>
          <a:lstStyle/>
          <a:p>
            <a:pPr algn="r" rtl="1"/>
            <a:endParaRPr lang="he-IL" dirty="0"/>
          </a:p>
          <a:p>
            <a:pPr algn="r" rtl="1"/>
            <a:r>
              <a:rPr lang="he-IL" dirty="0"/>
              <a:t>יצירת ערך עבור הלקוח היא תנאי הכרחי לרווח</a:t>
            </a:r>
          </a:p>
          <a:p>
            <a:pPr lvl="1" algn="r" rtl="1"/>
            <a:r>
              <a:rPr lang="he-IL" dirty="0"/>
              <a:t>כלומר:</a:t>
            </a:r>
            <a:r>
              <a:rPr lang="en-US" dirty="0"/>
              <a:t> </a:t>
            </a:r>
            <a:r>
              <a:rPr lang="he-IL" dirty="0"/>
              <a:t>המחיר שהלקוח מוכן לשלם גבוה מהעלות עבור הפירמה</a:t>
            </a:r>
          </a:p>
          <a:p>
            <a:pPr algn="r" rtl="1"/>
            <a:r>
              <a:rPr lang="he-IL" dirty="0"/>
              <a:t>הערך הזה מתחלק בין הלקוחות והפירמות על ידי התחרות בשוק</a:t>
            </a:r>
          </a:p>
          <a:p>
            <a:pPr lvl="1" algn="r" rtl="1"/>
            <a:r>
              <a:rPr lang="he-IL" dirty="0"/>
              <a:t>ככל שהתחרות חזקה יותר - יותר מן הערך נשאר בידי הלקוחות</a:t>
            </a:r>
          </a:p>
          <a:p>
            <a:pPr lvl="2" algn="r" rtl="1"/>
            <a:r>
              <a:rPr lang="he-IL" dirty="0"/>
              <a:t>דוגמה:</a:t>
            </a:r>
            <a:r>
              <a:rPr lang="en-US" dirty="0"/>
              <a:t> </a:t>
            </a:r>
            <a:r>
              <a:rPr lang="he-IL" dirty="0"/>
              <a:t> מדיניות ה"שמיים הפתוחים" בארה"ב ובאיחוד האירופי</a:t>
            </a:r>
          </a:p>
          <a:p>
            <a:pPr lvl="2" algn="r" rtl="1"/>
            <a:r>
              <a:rPr lang="he-IL" dirty="0"/>
              <a:t>עוד דוגמה: עלות השיחות הסלולריות בישראל</a:t>
            </a:r>
          </a:p>
          <a:p>
            <a:pPr algn="r" rtl="1"/>
            <a:r>
              <a:rPr lang="he-IL" dirty="0"/>
              <a:t>חלק מהותי מההכנסות של הפירמות עלול להישאר בידי ספקים חזקים</a:t>
            </a:r>
          </a:p>
          <a:p>
            <a:pPr lvl="2"/>
            <a:r>
              <a:rPr lang="he-IL" dirty="0"/>
              <a:t>דוגמה:</a:t>
            </a:r>
            <a:r>
              <a:rPr lang="en-US" dirty="0"/>
              <a:t> </a:t>
            </a:r>
            <a:r>
              <a:rPr lang="he-IL" dirty="0"/>
              <a:t>מיקרוסופט ואינטל מול יצרני מחשבים אישיים</a:t>
            </a:r>
          </a:p>
          <a:p>
            <a:pPr lvl="2"/>
            <a:r>
              <a:rPr lang="he-IL" dirty="0"/>
              <a:t>עוד דוגמה: ספקי נפט וגז מול מגוון תעשיות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69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9072" y="685800"/>
            <a:ext cx="7829921" cy="5486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he-IL" dirty="0"/>
          </a:p>
          <a:p>
            <a:pPr marL="0" indent="0">
              <a:buNone/>
            </a:pPr>
            <a:r>
              <a:rPr lang="he-IL" dirty="0"/>
              <a:t>סיכום ביניים </a:t>
            </a:r>
          </a:p>
          <a:p>
            <a:pPr marL="0" indent="0">
              <a:buNone/>
            </a:pPr>
            <a:r>
              <a:rPr lang="he-IL" dirty="0"/>
              <a:t>רווחיות הפירמות בתעשייה מסוימת נקבעת על ידי 3 גורמים:</a:t>
            </a:r>
          </a:p>
          <a:p>
            <a:pPr marL="514350" indent="-514350">
              <a:buFont typeface="+mj-lt"/>
              <a:buAutoNum type="arabicPeriod"/>
            </a:pPr>
            <a:r>
              <a:rPr lang="he-IL" dirty="0"/>
              <a:t>הערך של המוצר ללקוחות</a:t>
            </a:r>
          </a:p>
          <a:p>
            <a:pPr marL="514350" indent="-514350">
              <a:buFont typeface="+mj-lt"/>
              <a:buAutoNum type="arabicPeriod"/>
            </a:pPr>
            <a:r>
              <a:rPr lang="he-IL" dirty="0"/>
              <a:t>עוצמת התחרות</a:t>
            </a:r>
          </a:p>
          <a:p>
            <a:pPr marL="514350" indent="-514350">
              <a:buFont typeface="+mj-lt"/>
              <a:buAutoNum type="arabicPeriod"/>
            </a:pPr>
            <a:r>
              <a:rPr lang="he-IL" dirty="0"/>
              <a:t>כוח המיקוח יחסית לספקים</a:t>
            </a:r>
          </a:p>
          <a:p>
            <a:pPr marL="514350" indent="-514350">
              <a:buFont typeface="+mj-lt"/>
              <a:buAutoNum type="arabicPeriod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2444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25E96B-B389-473E-A9B9-72419B856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99961"/>
            <a:ext cx="10310936" cy="548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he-IL" dirty="0"/>
              <a:t>דוגמה: לתעשיית התרופות ולתעשיית המחשבים האישיים יש מבנים שונים מאוד</a:t>
            </a:r>
            <a:r>
              <a:rPr lang="en-US" dirty="0"/>
              <a:t> 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368" y="1700808"/>
          <a:ext cx="7200800" cy="453650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3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7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8252">
                <a:tc>
                  <a:txBody>
                    <a:bodyPr/>
                    <a:lstStyle/>
                    <a:p>
                      <a:pPr algn="r" rtl="1"/>
                      <a:r>
                        <a:rPr lang="he-IL" sz="2200" b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תעשיית המחשבים האישיים</a:t>
                      </a:r>
                      <a:endParaRPr lang="en-US" sz="2200" b="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200" b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תעשיית התרופות </a:t>
                      </a:r>
                      <a:r>
                        <a:rPr lang="en-US" sz="2200" b="0" baseline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 </a:t>
                      </a:r>
                      <a:endParaRPr lang="en-US" sz="2200" b="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252">
                <a:tc>
                  <a:txBody>
                    <a:bodyPr/>
                    <a:lstStyle/>
                    <a:p>
                      <a:pPr algn="r" rtl="1"/>
                      <a:r>
                        <a:rPr lang="he-IL" sz="220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רווחיות</a:t>
                      </a:r>
                      <a:r>
                        <a:rPr lang="he-IL" sz="2200" baseline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 נמוכה</a:t>
                      </a:r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20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רווחיות</a:t>
                      </a:r>
                      <a:r>
                        <a:rPr lang="he-IL" sz="2200" baseline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 גבוהה</a:t>
                      </a:r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252">
                <a:tc>
                  <a:txBody>
                    <a:bodyPr/>
                    <a:lstStyle/>
                    <a:p>
                      <a:pPr algn="r" rtl="1"/>
                      <a:r>
                        <a:rPr lang="he-IL" sz="220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פירמות רבות</a:t>
                      </a:r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20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מוצרים</a:t>
                      </a:r>
                      <a:r>
                        <a:rPr lang="he-IL" sz="2200" baseline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 מאוד מבודלים</a:t>
                      </a:r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873"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20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מוצר שהפך לקומודיטי</a:t>
                      </a:r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  <a:p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200" baseline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הצרכן לא רגיש מאוד למחיר</a:t>
                      </a:r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873">
                <a:tc>
                  <a:txBody>
                    <a:bodyPr/>
                    <a:lstStyle/>
                    <a:p>
                      <a:pPr algn="r" rtl="1"/>
                      <a:r>
                        <a:rPr lang="he-IL" sz="220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לחץ של</a:t>
                      </a:r>
                      <a:r>
                        <a:rPr lang="he-IL" sz="2200" baseline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 ספקים חזקים (מיקרוסופט ואינטל)</a:t>
                      </a:r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20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מוצרים חדשים מוגנים</a:t>
                      </a:r>
                      <a:r>
                        <a:rPr lang="he-IL" sz="2200" baseline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 ע"י</a:t>
                      </a:r>
                      <a:r>
                        <a:rPr lang="he-IL" sz="220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 פטנטים (זכויות </a:t>
                      </a:r>
                      <a:r>
                        <a:rPr lang="he-IL" sz="2200" baseline="0" dirty="0">
                          <a:latin typeface="Alef" panose="00000500000000000000" pitchFamily="2" charset="-79"/>
                          <a:cs typeface="Alef" panose="00000500000000000000" pitchFamily="2" charset="-79"/>
                        </a:rPr>
                        <a:t>מונופוליסטיות)</a:t>
                      </a:r>
                      <a:endParaRPr lang="en-US" sz="2200" dirty="0">
                        <a:latin typeface="Alef" panose="00000500000000000000" pitchFamily="2" charset="-79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08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>
            <a:extLst>
              <a:ext uri="{FF2B5EF4-FFF2-40B4-BE49-F238E27FC236}">
                <a16:creationId xmlns:a16="http://schemas.microsoft.com/office/drawing/2014/main" id="{F6283245-1B1F-4B24-83C5-3A0A5963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397" y="1062230"/>
            <a:ext cx="3963432" cy="3230866"/>
          </a:xfrm>
        </p:spPr>
        <p:txBody>
          <a:bodyPr anchor="t"/>
          <a:lstStyle/>
          <a:p>
            <a:r>
              <a:rPr lang="he-IL" sz="3200" dirty="0"/>
              <a:t>המודל של פורטר: </a:t>
            </a:r>
            <a:br>
              <a:rPr lang="he-IL" sz="3200" dirty="0"/>
            </a:br>
            <a:r>
              <a:rPr lang="he-IL" sz="3200" dirty="0"/>
              <a:t>הרווחיות של </a:t>
            </a:r>
            <a:r>
              <a:rPr lang="he-IL" sz="3200" b="1" dirty="0"/>
              <a:t>תעשייה</a:t>
            </a:r>
            <a:r>
              <a:rPr lang="he-IL" sz="3200" dirty="0"/>
              <a:t> מסוימת נקבעת על ידי 5 כוחות תחרותיים</a:t>
            </a:r>
            <a:br>
              <a:rPr lang="en-US" sz="3200" dirty="0"/>
            </a:br>
            <a:endParaRPr lang="en-GB" sz="3200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5CB3224B-5B2E-4C93-95AA-602562F1D20E}"/>
              </a:ext>
            </a:extLst>
          </p:cNvPr>
          <p:cNvSpPr/>
          <p:nvPr/>
        </p:nvSpPr>
        <p:spPr>
          <a:xfrm>
            <a:off x="2927648" y="2744924"/>
            <a:ext cx="1368152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Miriam" panose="020B0502050101010101" pitchFamily="34" charset="-79"/>
              </a:rPr>
              <a:t>מתחרים: יריבות בין מתחרים קיימים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EF4CCAE-ED05-4785-B4C1-79BE9ADB08C7}"/>
              </a:ext>
            </a:extLst>
          </p:cNvPr>
          <p:cNvSpPr/>
          <p:nvPr/>
        </p:nvSpPr>
        <p:spPr>
          <a:xfrm>
            <a:off x="2927648" y="1204794"/>
            <a:ext cx="1368152" cy="884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Miriam" panose="020B0502050101010101" pitchFamily="34" charset="-79"/>
              </a:rPr>
              <a:t>כוח המיקוח של הספקים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874D2CA-382D-4CED-A563-4589E64551E0}"/>
              </a:ext>
            </a:extLst>
          </p:cNvPr>
          <p:cNvSpPr/>
          <p:nvPr/>
        </p:nvSpPr>
        <p:spPr>
          <a:xfrm>
            <a:off x="2927648" y="4769138"/>
            <a:ext cx="1368152" cy="9001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Miriam" panose="020B0502050101010101" pitchFamily="34" charset="-79"/>
              </a:rPr>
              <a:t>כוח המיקוח של הלקוחות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B67999D-331B-419C-A370-80E1B5D2C7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45566" y="2993364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Miriam" panose="020B0502050101010101" pitchFamily="34" charset="-79"/>
              </a:rPr>
              <a:t>מוצרים תחליפיים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FCC7C1C4-A45E-4D5F-8E98-3AFEBA51A08D}"/>
              </a:ext>
            </a:extLst>
          </p:cNvPr>
          <p:cNvSpPr/>
          <p:nvPr/>
        </p:nvSpPr>
        <p:spPr>
          <a:xfrm>
            <a:off x="700604" y="2993364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Miriam" panose="020B0502050101010101" pitchFamily="34" charset="-79"/>
              </a:rPr>
              <a:t>איום של כניסה לשוק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חץ: ימינה 9">
            <a:extLst>
              <a:ext uri="{FF2B5EF4-FFF2-40B4-BE49-F238E27FC236}">
                <a16:creationId xmlns:a16="http://schemas.microsoft.com/office/drawing/2014/main" id="{6F9F0A7A-890F-4A81-8633-9ADE5891A05E}"/>
              </a:ext>
            </a:extLst>
          </p:cNvPr>
          <p:cNvSpPr/>
          <p:nvPr/>
        </p:nvSpPr>
        <p:spPr>
          <a:xfrm>
            <a:off x="2100710" y="3248980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775E1C23-DA18-49A1-AD98-A5948320E877}"/>
              </a:ext>
            </a:extLst>
          </p:cNvPr>
          <p:cNvSpPr/>
          <p:nvPr/>
        </p:nvSpPr>
        <p:spPr>
          <a:xfrm rot="16200000">
            <a:off x="3305491" y="4256067"/>
            <a:ext cx="612467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חץ: ימינה 11">
            <a:extLst>
              <a:ext uri="{FF2B5EF4-FFF2-40B4-BE49-F238E27FC236}">
                <a16:creationId xmlns:a16="http://schemas.microsoft.com/office/drawing/2014/main" id="{32C5222C-478A-435C-A558-E8FD79AE505F}"/>
              </a:ext>
            </a:extLst>
          </p:cNvPr>
          <p:cNvSpPr/>
          <p:nvPr/>
        </p:nvSpPr>
        <p:spPr>
          <a:xfrm rot="5400000">
            <a:off x="3305594" y="2241060"/>
            <a:ext cx="61226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חץ: ימינה 12">
            <a:extLst>
              <a:ext uri="{FF2B5EF4-FFF2-40B4-BE49-F238E27FC236}">
                <a16:creationId xmlns:a16="http://schemas.microsoft.com/office/drawing/2014/main" id="{17534C35-3E21-4D6C-9A44-EA81050D2239}"/>
              </a:ext>
            </a:extLst>
          </p:cNvPr>
          <p:cNvSpPr/>
          <p:nvPr/>
        </p:nvSpPr>
        <p:spPr>
          <a:xfrm rot="10800000">
            <a:off x="4324639" y="3252819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70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196752"/>
            <a:ext cx="3963432" cy="3096344"/>
          </a:xfrm>
        </p:spPr>
        <p:txBody>
          <a:bodyPr anchor="t">
            <a:normAutofit/>
          </a:bodyPr>
          <a:lstStyle/>
          <a:p>
            <a:pPr algn="r" rtl="1"/>
            <a:r>
              <a:rPr lang="he-IL" sz="4000" dirty="0"/>
              <a:t>1. מוצרים תחליפיים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8720" y="1196752"/>
            <a:ext cx="6126797" cy="498960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המחיר שלקוחות מוכנים לשלם עבור מוצר מושפע מקיומם של מוצרים תחליפיים</a:t>
            </a:r>
          </a:p>
          <a:p>
            <a:pPr algn="r" rtl="1"/>
            <a:r>
              <a:rPr lang="he-IL" dirty="0"/>
              <a:t>דוגמאות:</a:t>
            </a:r>
          </a:p>
          <a:p>
            <a:pPr lvl="1" algn="r" rtl="1"/>
            <a:r>
              <a:rPr lang="he-IL" dirty="0"/>
              <a:t>בנזין – אין עדיין תחליפים שמהווים תחרות אמיתית</a:t>
            </a:r>
          </a:p>
          <a:p>
            <a:pPr lvl="1" algn="r" rtl="1"/>
            <a:r>
              <a:rPr lang="he-IL" dirty="0"/>
              <a:t>לעומת זאת יש חברות אינטרנט שמספקות תחליפים לסוכנויות נסיעות, עיתונים, ספקי תקשורת, חנויות מוסיקה, וכו'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04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6199" y="1340766"/>
            <a:ext cx="3687629" cy="2952329"/>
          </a:xfrm>
        </p:spPr>
        <p:txBody>
          <a:bodyPr anchor="t">
            <a:normAutofit/>
          </a:bodyPr>
          <a:lstStyle/>
          <a:p>
            <a:pPr algn="r" rtl="1"/>
            <a:r>
              <a:rPr lang="he-IL" sz="4000" dirty="0"/>
              <a:t>2. איום של כניסה לשוק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19" y="1340766"/>
            <a:ext cx="6688641" cy="4845593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dirty="0"/>
              <a:t>יכול לגרום לפירמות המתחרות בשוק להגביל מחירים לרמה ה"תחרותית"</a:t>
            </a:r>
          </a:p>
          <a:p>
            <a:pPr lvl="1"/>
            <a:r>
              <a:rPr lang="he-IL" dirty="0"/>
              <a:t>דוגמה: בעבר,</a:t>
            </a:r>
            <a:r>
              <a:rPr lang="en-GB" dirty="0"/>
              <a:t>Norwegian </a:t>
            </a:r>
            <a:r>
              <a:rPr lang="he-IL" dirty="0"/>
              <a:t> הייתה החברה היחידה הטסה ישירות מתל אביב לקופנהגן. למרות זאת, המחיר היה דומה למחיר בשווקים תחרותיים (קיימת, כמובן, גם האפשרות לטוס לא ישיר).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9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6279" y="1268758"/>
            <a:ext cx="2967549" cy="3024337"/>
          </a:xfrm>
        </p:spPr>
        <p:txBody>
          <a:bodyPr anchor="t">
            <a:normAutofit/>
          </a:bodyPr>
          <a:lstStyle/>
          <a:p>
            <a:pPr algn="r" rtl="1"/>
            <a:r>
              <a:rPr lang="he-IL" sz="3200" dirty="0"/>
              <a:t>איום של כניסה לשוק:</a:t>
            </a:r>
            <a:r>
              <a:rPr lang="en-US" sz="3200" dirty="0"/>
              <a:t> </a:t>
            </a:r>
            <a:r>
              <a:rPr lang="he-IL" sz="3200" dirty="0"/>
              <a:t>מקורות של חסמי כניסה</a:t>
            </a:r>
            <a:br>
              <a:rPr lang="he-IL" sz="3200" dirty="0"/>
            </a:br>
            <a:br>
              <a:rPr lang="he-IL" sz="3200" dirty="0"/>
            </a:br>
            <a:r>
              <a:rPr lang="he-IL" sz="2400" dirty="0"/>
              <a:t>(כלומר – מה </a:t>
            </a:r>
            <a:r>
              <a:rPr lang="he-IL" sz="2400" b="1" dirty="0"/>
              <a:t>מקטין</a:t>
            </a:r>
            <a:r>
              <a:rPr lang="he-IL" sz="2400" dirty="0"/>
              <a:t> את האיום?)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76" y="1268758"/>
            <a:ext cx="6705917" cy="4917601"/>
          </a:xfrm>
        </p:spPr>
        <p:txBody>
          <a:bodyPr>
            <a:normAutofit/>
          </a:bodyPr>
          <a:lstStyle/>
          <a:p>
            <a:pPr algn="r" rtl="1"/>
            <a:r>
              <a:rPr lang="he-IL" sz="2300" dirty="0"/>
              <a:t>הון נדרש (מטוסים מול אפליקציות)</a:t>
            </a:r>
          </a:p>
          <a:p>
            <a:pPr algn="r" rtl="1"/>
            <a:r>
              <a:rPr lang="he-IL" sz="2300" dirty="0"/>
              <a:t>יתרון לגודל (לחברה חדשה יש עלויות גבוהות יחסית פר יחידה)</a:t>
            </a:r>
          </a:p>
          <a:p>
            <a:pPr algn="r" rtl="1"/>
            <a:r>
              <a:rPr lang="he-IL" sz="2300" dirty="0"/>
              <a:t>יתרון בעלויות (לדוגמה: עקב גישה לבאר נפט זולה)</a:t>
            </a:r>
          </a:p>
          <a:p>
            <a:pPr algn="r" rtl="1"/>
            <a:r>
              <a:rPr lang="he-IL" sz="2300" dirty="0"/>
              <a:t>בידול מוצר (נאמנות למותג)</a:t>
            </a:r>
          </a:p>
          <a:p>
            <a:pPr algn="r" rtl="1"/>
            <a:r>
              <a:rPr lang="he-IL" sz="2300" dirty="0"/>
              <a:t>גישה לערוצי הפצה (לדוגמה:</a:t>
            </a:r>
            <a:r>
              <a:rPr lang="en-US" sz="2300" dirty="0"/>
              <a:t> </a:t>
            </a:r>
            <a:r>
              <a:rPr lang="he-IL" sz="2300" dirty="0"/>
              <a:t>שטח מדף מוגבל בסופר)</a:t>
            </a:r>
          </a:p>
          <a:p>
            <a:pPr algn="r" rtl="1"/>
            <a:r>
              <a:rPr lang="he-IL" sz="2300" dirty="0"/>
              <a:t>חסמים ממשלתיים ומשפטיים (לדוגמה:</a:t>
            </a:r>
            <a:r>
              <a:rPr lang="en-US" sz="2300" dirty="0"/>
              <a:t> </a:t>
            </a:r>
            <a:r>
              <a:rPr lang="he-IL" sz="2300" dirty="0"/>
              <a:t>שידורי טלויזיה)</a:t>
            </a:r>
          </a:p>
          <a:p>
            <a:pPr algn="r" rtl="1"/>
            <a:r>
              <a:rPr lang="he-IL" sz="2300" dirty="0"/>
              <a:t>חשש מנקמה (לדוגמה:</a:t>
            </a:r>
            <a:r>
              <a:rPr lang="en-US" sz="2300" dirty="0"/>
              <a:t> </a:t>
            </a:r>
            <a:r>
              <a:rPr lang="he-IL" sz="2300" dirty="0"/>
              <a:t>בארה"ב חברות תעופה מבוססות "שוברות את השוק"</a:t>
            </a:r>
            <a:r>
              <a:rPr lang="en-US" sz="2300" dirty="0"/>
              <a:t> </a:t>
            </a:r>
            <a:r>
              <a:rPr lang="he-IL" sz="2300" dirty="0"/>
              <a:t>בקווים של חברות זולות)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86058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0536" y="1196752"/>
            <a:ext cx="2723292" cy="3096344"/>
          </a:xfrm>
        </p:spPr>
        <p:txBody>
          <a:bodyPr anchor="t">
            <a:noAutofit/>
          </a:bodyPr>
          <a:lstStyle/>
          <a:p>
            <a:r>
              <a:rPr lang="he-IL" sz="4000" dirty="0"/>
              <a:t>3. יריבות בין מתחרים קיימים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904" y="1196752"/>
            <a:ext cx="6705917" cy="4989609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dirty="0"/>
              <a:t>מתי היריבות (תחרות) תהיה </a:t>
            </a:r>
            <a:r>
              <a:rPr lang="he-IL" b="1" dirty="0"/>
              <a:t>חזקה</a:t>
            </a:r>
            <a:r>
              <a:rPr lang="he-IL" dirty="0"/>
              <a:t> יותר</a:t>
            </a:r>
            <a:r>
              <a:rPr lang="en-US" dirty="0"/>
              <a:t>?</a:t>
            </a:r>
            <a:endParaRPr lang="he-IL" dirty="0"/>
          </a:p>
          <a:p>
            <a:pPr algn="r" rtl="1"/>
            <a:r>
              <a:rPr lang="he-IL" dirty="0"/>
              <a:t>כשהריכוזיות נמוכה</a:t>
            </a:r>
          </a:p>
          <a:p>
            <a:pPr lvl="1"/>
            <a:r>
              <a:rPr lang="he-IL" dirty="0"/>
              <a:t>ריכוזיות: מספר וגודל המתחרים</a:t>
            </a:r>
          </a:p>
          <a:p>
            <a:pPr lvl="1"/>
            <a:r>
              <a:rPr lang="he-IL" dirty="0"/>
              <a:t>יותר מתחרים = יותר קשה לתאם מחירים</a:t>
            </a:r>
          </a:p>
          <a:p>
            <a:pPr algn="r" rtl="1"/>
            <a:r>
              <a:rPr lang="he-IL" dirty="0"/>
              <a:t>כשהמתחרים שונים</a:t>
            </a:r>
          </a:p>
          <a:p>
            <a:pPr lvl="1"/>
            <a:r>
              <a:rPr lang="he-IL" dirty="0"/>
              <a:t>שונות במוצא, יעדים, עלויות, אסטרטגיה</a:t>
            </a:r>
          </a:p>
          <a:p>
            <a:pPr lvl="1" algn="r" rtl="1"/>
            <a:r>
              <a:rPr lang="he-IL" dirty="0"/>
              <a:t>שונים יותר = תחרותיות רבה יותר</a:t>
            </a:r>
          </a:p>
          <a:p>
            <a:pPr algn="r" rtl="1"/>
            <a:r>
              <a:rPr lang="he-IL" dirty="0"/>
              <a:t>כשהמוצר לא מבודל</a:t>
            </a:r>
          </a:p>
          <a:p>
            <a:pPr lvl="1"/>
            <a:r>
              <a:rPr lang="he-IL" dirty="0"/>
              <a:t>כלומר, כשמדובר במוצר גנרי, קומודיטי </a:t>
            </a:r>
          </a:p>
          <a:p>
            <a:pPr lvl="1"/>
            <a:r>
              <a:rPr lang="he-IL" dirty="0"/>
              <a:t>יותר בידול = פחות תחרות על מחיר</a:t>
            </a:r>
          </a:p>
          <a:p>
            <a:pPr algn="r" rtl="1"/>
            <a:r>
              <a:rPr lang="he-IL" dirty="0"/>
              <a:t>כשיש עודף כושר יצור</a:t>
            </a:r>
          </a:p>
        </p:txBody>
      </p:sp>
    </p:spTree>
    <p:extLst>
      <p:ext uri="{BB962C8B-B14F-4D97-AF65-F5344CB8AC3E}">
        <p14:creationId xmlns:p14="http://schemas.microsoft.com/office/powerpoint/2010/main" val="224470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7032" y="1052734"/>
            <a:ext cx="3326796" cy="3240361"/>
          </a:xfrm>
        </p:spPr>
        <p:txBody>
          <a:bodyPr anchor="t">
            <a:normAutofit/>
          </a:bodyPr>
          <a:lstStyle/>
          <a:p>
            <a:pPr rtl="1"/>
            <a:r>
              <a:rPr lang="he-IL" sz="4000" dirty="0"/>
              <a:t>4. כוח המיקוח של הלקוחות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52735"/>
            <a:ext cx="6705917" cy="5133625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רגישותם למחיר</a:t>
            </a:r>
          </a:p>
          <a:p>
            <a:pPr marL="247716" lvl="1" indent="0" algn="r" rtl="1">
              <a:buNone/>
            </a:pPr>
            <a:r>
              <a:rPr lang="he-IL" dirty="0"/>
              <a:t>מתי הם </a:t>
            </a:r>
            <a:r>
              <a:rPr lang="he-IL" b="1" dirty="0"/>
              <a:t>יותר</a:t>
            </a:r>
            <a:r>
              <a:rPr lang="he-IL" dirty="0"/>
              <a:t> רגישים למחיר?</a:t>
            </a:r>
          </a:p>
          <a:p>
            <a:pPr lvl="1" algn="r" rtl="1"/>
            <a:r>
              <a:rPr lang="he-IL" dirty="0"/>
              <a:t>כשהמוצר מהווה חלק ניכר מהוצאה הכוללת שלהם</a:t>
            </a:r>
          </a:p>
          <a:p>
            <a:pPr lvl="2"/>
            <a:r>
              <a:rPr lang="he-IL" dirty="0"/>
              <a:t>דוגמה:</a:t>
            </a:r>
            <a:r>
              <a:rPr lang="en-US" dirty="0"/>
              <a:t> </a:t>
            </a:r>
            <a:r>
              <a:rPr lang="he-IL" dirty="0"/>
              <a:t>יצרני משקאות קלים בפחיות רגישים למחיר האלומיניום</a:t>
            </a:r>
          </a:p>
          <a:p>
            <a:pPr lvl="1" algn="r" rtl="1"/>
            <a:r>
              <a:rPr lang="he-IL" dirty="0"/>
              <a:t>כשהמוצר לא מבודל</a:t>
            </a:r>
          </a:p>
          <a:p>
            <a:pPr lvl="1" algn="r" rtl="1"/>
            <a:r>
              <a:rPr lang="he-IL" dirty="0"/>
              <a:t>כשהשוק שלהם תחרותי</a:t>
            </a:r>
          </a:p>
          <a:p>
            <a:pPr lvl="2"/>
            <a:r>
              <a:rPr lang="he-IL" dirty="0"/>
              <a:t>דוגמה: תחרות בענף הרכב יצרה לחץ על ספקי רכיבים להוריד מחירים</a:t>
            </a:r>
          </a:p>
          <a:p>
            <a:pPr lvl="1" algn="r" rtl="1"/>
            <a:r>
              <a:rPr lang="he-IL" dirty="0"/>
              <a:t>כשהאיכות לא חשובה להם</a:t>
            </a:r>
          </a:p>
          <a:p>
            <a:r>
              <a:rPr lang="he-IL" dirty="0"/>
              <a:t>כוח המיקוח היחסי שלהם</a:t>
            </a:r>
          </a:p>
          <a:p>
            <a:pPr lvl="1"/>
            <a:r>
              <a:rPr lang="he-IL" dirty="0"/>
              <a:t>גודלם יחסית למוכר</a:t>
            </a:r>
          </a:p>
          <a:p>
            <a:pPr lvl="1"/>
            <a:r>
              <a:rPr lang="he-IL" dirty="0"/>
              <a:t>המידע שיש להם</a:t>
            </a:r>
          </a:p>
          <a:p>
            <a:pPr lvl="1"/>
            <a:r>
              <a:rPr lang="he-IL" dirty="0"/>
              <a:t>יכולתם לעשות זאת בעצמם (במקום לקנות)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30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2263" y="1556792"/>
            <a:ext cx="3111565" cy="2736304"/>
          </a:xfrm>
        </p:spPr>
        <p:txBody>
          <a:bodyPr anchor="t">
            <a:normAutofit/>
          </a:bodyPr>
          <a:lstStyle/>
          <a:p>
            <a:pPr rtl="1"/>
            <a:r>
              <a:rPr lang="he-IL" sz="4000" dirty="0"/>
              <a:t>5. כוח המיקוח של הספקים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6792"/>
            <a:ext cx="6705917" cy="4629568"/>
          </a:xfrm>
        </p:spPr>
        <p:txBody>
          <a:bodyPr/>
          <a:lstStyle/>
          <a:p>
            <a:pPr marL="0" indent="0" algn="r" rtl="1">
              <a:buNone/>
            </a:pPr>
            <a:r>
              <a:rPr lang="he-IL" dirty="0"/>
              <a:t>מנתחים כמו כוח המיקוח של </a:t>
            </a:r>
            <a:r>
              <a:rPr lang="he-IL" b="1" dirty="0"/>
              <a:t>לקוחות</a:t>
            </a:r>
            <a:r>
              <a:rPr lang="he-IL" dirty="0"/>
              <a:t> – רק הפוך</a:t>
            </a:r>
          </a:p>
        </p:txBody>
      </p:sp>
    </p:spTree>
    <p:extLst>
      <p:ext uri="{BB962C8B-B14F-4D97-AF65-F5344CB8AC3E}">
        <p14:creationId xmlns:p14="http://schemas.microsoft.com/office/powerpoint/2010/main" val="13374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59" y="1124744"/>
            <a:ext cx="3217069" cy="3168352"/>
          </a:xfrm>
        </p:spPr>
        <p:txBody>
          <a:bodyPr anchor="t">
            <a:noAutofit/>
          </a:bodyPr>
          <a:lstStyle/>
          <a:p>
            <a:pPr rtl="1"/>
            <a:r>
              <a:rPr lang="he-IL" sz="2800" dirty="0"/>
              <a:t>שימוש במודל כדי לחזות את הרווחיות העתידית של תעשייה/ענף </a:t>
            </a:r>
            <a:br>
              <a:rPr lang="he-IL" sz="2800" dirty="0"/>
            </a:br>
            <a:r>
              <a:rPr lang="he-IL" sz="2800" dirty="0"/>
              <a:t>(למשל, כדי לדעת איפה להשקיע)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136" y="1124744"/>
            <a:ext cx="6437693" cy="506161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e-IL" dirty="0"/>
              <a:t>בדקו איך מבנה התעשייה משפיע על הרווחיות שלה בעבר ובהווה</a:t>
            </a:r>
          </a:p>
          <a:p>
            <a:pPr marL="514350" indent="-514350">
              <a:buFont typeface="+mj-lt"/>
              <a:buAutoNum type="arabicPeriod"/>
            </a:pPr>
            <a:r>
              <a:rPr lang="he-IL" dirty="0"/>
              <a:t>זהו מגמות שמשנות את מבנה התעשייה</a:t>
            </a:r>
          </a:p>
          <a:p>
            <a:pPr lvl="2" algn="r" rtl="1"/>
            <a:r>
              <a:rPr lang="he-IL" sz="2000" dirty="0"/>
              <a:t>למשל:</a:t>
            </a:r>
            <a:r>
              <a:rPr lang="en-US" sz="2000" dirty="0"/>
              <a:t> </a:t>
            </a:r>
            <a:r>
              <a:rPr lang="he-IL" sz="2000" dirty="0"/>
              <a:t>האם שחקנים חדשים עומדים להיכנס? </a:t>
            </a:r>
          </a:p>
          <a:p>
            <a:pPr marL="514350" indent="-514350">
              <a:buFont typeface="+mj-lt"/>
              <a:buAutoNum type="arabicPeriod"/>
            </a:pPr>
            <a:r>
              <a:rPr lang="he-IL" dirty="0"/>
              <a:t>העריכו כיצד שינויים מבניים אלו ישפיעו על 5 הכוחות וכתוצאה מכך על הרווחיות</a:t>
            </a:r>
          </a:p>
          <a:p>
            <a:pPr marL="514350" indent="-514350">
              <a:buFont typeface="+mj-lt"/>
              <a:buAutoNum type="arabicPeriod"/>
            </a:pPr>
            <a:endParaRPr lang="he-IL" dirty="0"/>
          </a:p>
          <a:p>
            <a:pPr marL="0" indent="0">
              <a:buNone/>
            </a:pPr>
            <a:r>
              <a:rPr lang="he-IL" dirty="0"/>
              <a:t>חשיבה ביקורתית - שימו לב ש:</a:t>
            </a:r>
          </a:p>
          <a:p>
            <a:r>
              <a:rPr lang="he-IL" sz="2000" dirty="0"/>
              <a:t>שוק הסלולר: כניסת מתחרים הורידה מחירים ואת רווחיות חברות הסלולר</a:t>
            </a:r>
          </a:p>
          <a:p>
            <a:r>
              <a:rPr lang="he-IL" sz="2000" dirty="0"/>
              <a:t>שוק הבנקאות: כניסת בנק דיגיטלי לא ממש השפיעה על השוק (בינתיים)</a:t>
            </a:r>
          </a:p>
        </p:txBody>
      </p:sp>
    </p:spTree>
    <p:extLst>
      <p:ext uri="{BB962C8B-B14F-4D97-AF65-F5344CB8AC3E}">
        <p14:creationId xmlns:p14="http://schemas.microsoft.com/office/powerpoint/2010/main" val="15352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1583" y="1268760"/>
            <a:ext cx="3482245" cy="3024336"/>
          </a:xfrm>
        </p:spPr>
        <p:txBody>
          <a:bodyPr anchor="t">
            <a:normAutofit/>
          </a:bodyPr>
          <a:lstStyle/>
          <a:p>
            <a:pPr rtl="1"/>
            <a:r>
              <a:rPr lang="he-IL" sz="3200" dirty="0"/>
              <a:t>מה ההנהלה יכולה לעשות עם ניתוח שמבוסס על המודל?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624" y="1223040"/>
            <a:ext cx="6705917" cy="4917601"/>
          </a:xfrm>
        </p:spPr>
        <p:txBody>
          <a:bodyPr/>
          <a:lstStyle/>
          <a:p>
            <a:pPr algn="r" rtl="1"/>
            <a:r>
              <a:rPr lang="he-IL" dirty="0"/>
              <a:t>למצב את הפירמה היכן שהכוחות התחרותיים הם החלשים ביותר</a:t>
            </a:r>
          </a:p>
          <a:p>
            <a:pPr algn="r" rtl="1"/>
            <a:r>
              <a:rPr lang="he-IL" dirty="0"/>
              <a:t>לשנות תכונות מבניות שמורידות רווחיות</a:t>
            </a:r>
          </a:p>
          <a:p>
            <a:pPr lvl="1" algn="r" rtl="1"/>
            <a:r>
              <a:rPr lang="he-IL" dirty="0"/>
              <a:t>דוגמה:</a:t>
            </a:r>
            <a:r>
              <a:rPr lang="en-US" dirty="0"/>
              <a:t> </a:t>
            </a:r>
            <a:r>
              <a:rPr lang="he-IL" dirty="0"/>
              <a:t>מיזוגים ובריתות הורידה את התחרות בקווי תעופה רבים בעולם</a:t>
            </a:r>
          </a:p>
          <a:p>
            <a:pPr lvl="1" algn="r" rtl="1"/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4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F5B5AA-513F-48D8-A0D3-D8396AFD7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397" y="1412774"/>
            <a:ext cx="3963432" cy="2880321"/>
          </a:xfrm>
        </p:spPr>
        <p:txBody>
          <a:bodyPr anchor="t"/>
          <a:lstStyle/>
          <a:p>
            <a:r>
              <a:rPr lang="he-IL" dirty="0"/>
              <a:t>שימו לב!</a:t>
            </a:r>
            <a:endParaRPr lang="en-GB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3F66173-6F63-4B6D-98FE-8A32B5B7E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28" y="1412774"/>
            <a:ext cx="6705917" cy="4773585"/>
          </a:xfrm>
        </p:spPr>
        <p:txBody>
          <a:bodyPr/>
          <a:lstStyle/>
          <a:p>
            <a:r>
              <a:rPr lang="he-IL" dirty="0"/>
              <a:t>המודל מיועד לניתוח תעשייה/ענף – לא פירמה</a:t>
            </a:r>
          </a:p>
          <a:p>
            <a:r>
              <a:rPr lang="he-IL" dirty="0"/>
              <a:t>נא לא להתבלבל בין מוצרים תחליפיים ומתחרים</a:t>
            </a:r>
          </a:p>
          <a:p>
            <a:r>
              <a:rPr lang="he-IL" dirty="0"/>
              <a:t>המודל פחות שימושי בתעשיות שמשתנות מהר</a:t>
            </a:r>
          </a:p>
          <a:p>
            <a:r>
              <a:rPr lang="he-IL" dirty="0"/>
              <a:t>החשיבה הזאת פחות שימושית בתעשיות שבהן לשיתופי פעולה ולרשתות יש חשיבות אסטרטגית</a:t>
            </a:r>
          </a:p>
          <a:p>
            <a:r>
              <a:rPr lang="he-IL" dirty="0"/>
              <a:t>המודל מתעלם ממוצרים משלימים</a:t>
            </a:r>
          </a:p>
          <a:p>
            <a:pPr lvl="1"/>
            <a:r>
              <a:rPr lang="he-IL" dirty="0"/>
              <a:t>נרחיב את הדיון על כך בהמשך</a:t>
            </a:r>
          </a:p>
        </p:txBody>
      </p:sp>
    </p:spTree>
    <p:extLst>
      <p:ext uri="{BB962C8B-B14F-4D97-AF65-F5344CB8AC3E}">
        <p14:creationId xmlns:p14="http://schemas.microsoft.com/office/powerpoint/2010/main" val="421872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1618E-6F3B-582A-F22F-C69BCF1F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>
            <a:extLst>
              <a:ext uri="{FF2B5EF4-FFF2-40B4-BE49-F238E27FC236}">
                <a16:creationId xmlns:a16="http://schemas.microsoft.com/office/drawing/2014/main" id="{3DD51C0A-5D30-4F6E-9E36-06738C73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0216" y="980728"/>
            <a:ext cx="3687629" cy="5184576"/>
          </a:xfrm>
        </p:spPr>
        <p:txBody>
          <a:bodyPr anchor="t"/>
          <a:lstStyle/>
          <a:p>
            <a:pPr rtl="1">
              <a:lnSpc>
                <a:spcPct val="150000"/>
              </a:lnSpc>
            </a:pPr>
            <a:r>
              <a:rPr lang="he-IL" sz="2400" dirty="0"/>
              <a:t>דיון - איך אפשר להסביר בעזרת המודל של פורטר:</a:t>
            </a:r>
            <a:br>
              <a:rPr lang="he-IL" sz="2400" dirty="0"/>
            </a:br>
            <a:r>
              <a:rPr lang="he-IL" sz="2400" dirty="0"/>
              <a:t>- מדוע נפלה הרווחיות של חברות הסלולר?</a:t>
            </a:r>
            <a:br>
              <a:rPr lang="he-IL" sz="2400" dirty="0"/>
            </a:br>
            <a:r>
              <a:rPr lang="he-IL" sz="2400" dirty="0"/>
              <a:t>- מדוע נעלמו חנויות הדיסקים?</a:t>
            </a:r>
            <a:br>
              <a:rPr lang="he-IL" sz="2400" dirty="0"/>
            </a:br>
            <a:r>
              <a:rPr lang="he-IL" sz="2400" dirty="0"/>
              <a:t>- מדוע רווחיות הבנקים בארץ גבוהה?</a:t>
            </a:r>
            <a:endParaRPr lang="en-GB" sz="2400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649A391F-53AD-29A2-A8E4-FA637E9A1593}"/>
              </a:ext>
            </a:extLst>
          </p:cNvPr>
          <p:cNvSpPr/>
          <p:nvPr/>
        </p:nvSpPr>
        <p:spPr>
          <a:xfrm>
            <a:off x="2927648" y="2744924"/>
            <a:ext cx="1368152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מתחרים: יריבות בין מתחרים קיימים</a:t>
            </a:r>
            <a:endParaRPr lang="en-GB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AA804FA7-05E6-6A28-8B72-C13BD02F9E35}"/>
              </a:ext>
            </a:extLst>
          </p:cNvPr>
          <p:cNvSpPr/>
          <p:nvPr/>
        </p:nvSpPr>
        <p:spPr>
          <a:xfrm>
            <a:off x="2927648" y="1204794"/>
            <a:ext cx="1368152" cy="884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כוח המיקוח של הספקים</a:t>
            </a:r>
            <a:endParaRPr lang="en-GB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25B8A29-DD17-F259-D3BC-408DC1328251}"/>
              </a:ext>
            </a:extLst>
          </p:cNvPr>
          <p:cNvSpPr/>
          <p:nvPr/>
        </p:nvSpPr>
        <p:spPr>
          <a:xfrm>
            <a:off x="2927648" y="4769138"/>
            <a:ext cx="1368152" cy="9001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כוח המיקוח של הלקוחות</a:t>
            </a:r>
            <a:endParaRPr lang="en-GB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C643689-39BB-37D5-027F-34B9E108AF39}"/>
              </a:ext>
            </a:extLst>
          </p:cNvPr>
          <p:cNvSpPr/>
          <p:nvPr/>
        </p:nvSpPr>
        <p:spPr>
          <a:xfrm>
            <a:off x="5145566" y="2993364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מוצרים תחליפיים</a:t>
            </a:r>
            <a:endParaRPr lang="en-GB" dirty="0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4BEE726-CE2A-1DBA-8756-4C2C85C0AFAF}"/>
              </a:ext>
            </a:extLst>
          </p:cNvPr>
          <p:cNvSpPr/>
          <p:nvPr/>
        </p:nvSpPr>
        <p:spPr>
          <a:xfrm>
            <a:off x="700604" y="2993364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איום של כניסה לשוק</a:t>
            </a:r>
            <a:endParaRPr lang="en-GB" dirty="0"/>
          </a:p>
        </p:txBody>
      </p:sp>
      <p:sp>
        <p:nvSpPr>
          <p:cNvPr id="10" name="חץ: ימינה 9">
            <a:extLst>
              <a:ext uri="{FF2B5EF4-FFF2-40B4-BE49-F238E27FC236}">
                <a16:creationId xmlns:a16="http://schemas.microsoft.com/office/drawing/2014/main" id="{BD49F987-2941-F935-D137-C24AD24CC9F8}"/>
              </a:ext>
            </a:extLst>
          </p:cNvPr>
          <p:cNvSpPr/>
          <p:nvPr/>
        </p:nvSpPr>
        <p:spPr>
          <a:xfrm>
            <a:off x="2100710" y="3248980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18581829-4FB9-1C88-D9A5-290B1B763233}"/>
              </a:ext>
            </a:extLst>
          </p:cNvPr>
          <p:cNvSpPr/>
          <p:nvPr/>
        </p:nvSpPr>
        <p:spPr>
          <a:xfrm rot="16200000">
            <a:off x="3305491" y="4256067"/>
            <a:ext cx="612467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חץ: ימינה 11">
            <a:extLst>
              <a:ext uri="{FF2B5EF4-FFF2-40B4-BE49-F238E27FC236}">
                <a16:creationId xmlns:a16="http://schemas.microsoft.com/office/drawing/2014/main" id="{7F0EAD19-BAC4-B6FC-F441-178FC9569FC5}"/>
              </a:ext>
            </a:extLst>
          </p:cNvPr>
          <p:cNvSpPr/>
          <p:nvPr/>
        </p:nvSpPr>
        <p:spPr>
          <a:xfrm rot="5400000">
            <a:off x="3305594" y="2241060"/>
            <a:ext cx="61226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חץ: ימינה 12">
            <a:extLst>
              <a:ext uri="{FF2B5EF4-FFF2-40B4-BE49-F238E27FC236}">
                <a16:creationId xmlns:a16="http://schemas.microsoft.com/office/drawing/2014/main" id="{5ED168A6-D857-2E66-8413-0414E2AD9DED}"/>
              </a:ext>
            </a:extLst>
          </p:cNvPr>
          <p:cNvSpPr/>
          <p:nvPr/>
        </p:nvSpPr>
        <p:spPr>
          <a:xfrm rot="10800000">
            <a:off x="4324639" y="3252819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23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>
            <a:extLst>
              <a:ext uri="{FF2B5EF4-FFF2-40B4-BE49-F238E27FC236}">
                <a16:creationId xmlns:a16="http://schemas.microsoft.com/office/drawing/2014/main" id="{F6283245-1B1F-4B24-83C5-3A0A5963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160" y="980728"/>
            <a:ext cx="4191685" cy="5184576"/>
          </a:xfrm>
        </p:spPr>
        <p:txBody>
          <a:bodyPr anchor="t"/>
          <a:lstStyle/>
          <a:p>
            <a:pPr rtl="1">
              <a:lnSpc>
                <a:spcPct val="150000"/>
              </a:lnSpc>
            </a:pPr>
            <a:r>
              <a:rPr lang="he-IL" sz="2400" b="1" dirty="0"/>
              <a:t>דיון - תעשיית התעופה: </a:t>
            </a:r>
            <a:br>
              <a:rPr lang="he-IL" sz="2400" dirty="0"/>
            </a:br>
            <a:r>
              <a:rPr lang="he-IL" sz="2400" dirty="0"/>
              <a:t>מהי השפעת השינויים הבאים על הרווחיות, </a:t>
            </a:r>
            <a:r>
              <a:rPr lang="he-IL" sz="2400" b="1" dirty="0"/>
              <a:t>ומדוע?</a:t>
            </a:r>
            <a:br>
              <a:rPr lang="en-US" sz="2400" b="1" dirty="0"/>
            </a:br>
            <a:r>
              <a:rPr lang="he-IL" sz="2400" b="1" dirty="0"/>
              <a:t>- </a:t>
            </a:r>
            <a:r>
              <a:rPr lang="he-IL" sz="2400" dirty="0"/>
              <a:t>רשת האינטרנט</a:t>
            </a:r>
            <a:br>
              <a:rPr lang="en-US" sz="2400" dirty="0"/>
            </a:br>
            <a:r>
              <a:rPr lang="he-IL" sz="2400" dirty="0"/>
              <a:t>- מדיניות השמיים הפתוחים</a:t>
            </a:r>
            <a:br>
              <a:rPr lang="en-US" sz="2400" dirty="0"/>
            </a:br>
            <a:r>
              <a:rPr lang="he-IL" sz="2400" dirty="0"/>
              <a:t>- הוזלת מחיר הנסיעה ברכבת</a:t>
            </a:r>
            <a:br>
              <a:rPr lang="en-US" sz="2400" dirty="0"/>
            </a:br>
            <a:r>
              <a:rPr lang="he-IL" sz="2400" dirty="0"/>
              <a:t>- ייצור מטוסים זולים בסין</a:t>
            </a:r>
            <a:br>
              <a:rPr lang="en-US" sz="2400" dirty="0"/>
            </a:br>
            <a:endParaRPr lang="en-GB" sz="2400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5CB3224B-5B2E-4C93-95AA-602562F1D20E}"/>
              </a:ext>
            </a:extLst>
          </p:cNvPr>
          <p:cNvSpPr/>
          <p:nvPr/>
        </p:nvSpPr>
        <p:spPr>
          <a:xfrm>
            <a:off x="2927648" y="2744924"/>
            <a:ext cx="1368152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מתחרים: יריבות בין מתחרים קיימים</a:t>
            </a:r>
            <a:endParaRPr lang="en-GB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EF4CCAE-ED05-4785-B4C1-79BE9ADB08C7}"/>
              </a:ext>
            </a:extLst>
          </p:cNvPr>
          <p:cNvSpPr/>
          <p:nvPr/>
        </p:nvSpPr>
        <p:spPr>
          <a:xfrm>
            <a:off x="2927648" y="1204794"/>
            <a:ext cx="1368152" cy="884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כוח המיקוח של הספקים</a:t>
            </a:r>
            <a:endParaRPr lang="en-GB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874D2CA-382D-4CED-A563-4589E64551E0}"/>
              </a:ext>
            </a:extLst>
          </p:cNvPr>
          <p:cNvSpPr/>
          <p:nvPr/>
        </p:nvSpPr>
        <p:spPr>
          <a:xfrm>
            <a:off x="2927648" y="4769138"/>
            <a:ext cx="1368152" cy="9001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כוח המיקוח של הלקוחות</a:t>
            </a:r>
            <a:endParaRPr lang="en-GB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B67999D-331B-419C-A370-80E1B5D2C777}"/>
              </a:ext>
            </a:extLst>
          </p:cNvPr>
          <p:cNvSpPr/>
          <p:nvPr/>
        </p:nvSpPr>
        <p:spPr>
          <a:xfrm>
            <a:off x="5145566" y="2993364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מוצרים תחליפיים</a:t>
            </a:r>
            <a:endParaRPr lang="en-GB" dirty="0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FCC7C1C4-A45E-4D5F-8E98-3AFEBA51A08D}"/>
              </a:ext>
            </a:extLst>
          </p:cNvPr>
          <p:cNvSpPr/>
          <p:nvPr/>
        </p:nvSpPr>
        <p:spPr>
          <a:xfrm>
            <a:off x="700604" y="2993364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איום של כניסה לשוק</a:t>
            </a:r>
            <a:endParaRPr lang="en-GB" dirty="0"/>
          </a:p>
        </p:txBody>
      </p:sp>
      <p:sp>
        <p:nvSpPr>
          <p:cNvPr id="10" name="חץ: ימינה 9">
            <a:extLst>
              <a:ext uri="{FF2B5EF4-FFF2-40B4-BE49-F238E27FC236}">
                <a16:creationId xmlns:a16="http://schemas.microsoft.com/office/drawing/2014/main" id="{6F9F0A7A-890F-4A81-8633-9ADE5891A05E}"/>
              </a:ext>
            </a:extLst>
          </p:cNvPr>
          <p:cNvSpPr/>
          <p:nvPr/>
        </p:nvSpPr>
        <p:spPr>
          <a:xfrm>
            <a:off x="2100710" y="3248980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775E1C23-DA18-49A1-AD98-A5948320E877}"/>
              </a:ext>
            </a:extLst>
          </p:cNvPr>
          <p:cNvSpPr/>
          <p:nvPr/>
        </p:nvSpPr>
        <p:spPr>
          <a:xfrm rot="16200000">
            <a:off x="3305491" y="4256067"/>
            <a:ext cx="612467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חץ: ימינה 11">
            <a:extLst>
              <a:ext uri="{FF2B5EF4-FFF2-40B4-BE49-F238E27FC236}">
                <a16:creationId xmlns:a16="http://schemas.microsoft.com/office/drawing/2014/main" id="{32C5222C-478A-435C-A558-E8FD79AE505F}"/>
              </a:ext>
            </a:extLst>
          </p:cNvPr>
          <p:cNvSpPr/>
          <p:nvPr/>
        </p:nvSpPr>
        <p:spPr>
          <a:xfrm rot="5400000">
            <a:off x="3305594" y="2241060"/>
            <a:ext cx="61226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חץ: ימינה 12">
            <a:extLst>
              <a:ext uri="{FF2B5EF4-FFF2-40B4-BE49-F238E27FC236}">
                <a16:creationId xmlns:a16="http://schemas.microsoft.com/office/drawing/2014/main" id="{17534C35-3E21-4D6C-9A44-EA81050D2239}"/>
              </a:ext>
            </a:extLst>
          </p:cNvPr>
          <p:cNvSpPr/>
          <p:nvPr/>
        </p:nvSpPr>
        <p:spPr>
          <a:xfrm rot="10800000">
            <a:off x="4324639" y="3252819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09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מטוס, בחוץ, שמיים, תחבורה&#10;&#10;התיאור נוצר באופן אוטומטי">
            <a:extLst>
              <a:ext uri="{FF2B5EF4-FFF2-40B4-BE49-F238E27FC236}">
                <a16:creationId xmlns:a16="http://schemas.microsoft.com/office/drawing/2014/main" id="{643CAD2D-A70E-9155-709F-9628E0CC41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3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A37B69DF-E40B-C504-D748-69014945C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896" y="4150192"/>
            <a:ext cx="4673224" cy="2304256"/>
          </a:xfrm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dirty="0">
                <a:solidFill>
                  <a:schemeClr val="bg1"/>
                </a:solidFill>
              </a:rPr>
              <a:t>תרגיל כיתה – יחד עם מי שיושב/ת לידך!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he-IL" sz="2000" dirty="0">
                <a:solidFill>
                  <a:schemeClr val="bg1"/>
                </a:solidFill>
              </a:rPr>
              <a:t>אתם אנשי עסקים בעלי הון.</a:t>
            </a:r>
          </a:p>
          <a:p>
            <a:pPr marL="0" indent="0">
              <a:buNone/>
            </a:pPr>
            <a:r>
              <a:rPr lang="he-IL" sz="2000" dirty="0">
                <a:solidFill>
                  <a:schemeClr val="bg1"/>
                </a:solidFill>
              </a:rPr>
              <a:t>האם כדאי להיכנס לתעשיית התעופה (</a:t>
            </a:r>
            <a:r>
              <a:rPr lang="en-US" sz="2000" dirty="0">
                <a:solidFill>
                  <a:schemeClr val="bg1"/>
                </a:solidFill>
              </a:rPr>
              <a:t>Airlines</a:t>
            </a:r>
            <a:r>
              <a:rPr lang="he-IL" sz="2000" dirty="0">
                <a:solidFill>
                  <a:schemeClr val="bg1"/>
                </a:solidFill>
              </a:rPr>
              <a:t>) באירופה?</a:t>
            </a:r>
          </a:p>
          <a:p>
            <a:pPr marL="0" indent="0">
              <a:buNone/>
            </a:pPr>
            <a:r>
              <a:rPr lang="he-IL" sz="2000" dirty="0">
                <a:solidFill>
                  <a:schemeClr val="bg1"/>
                </a:solidFill>
              </a:rPr>
              <a:t>השתמשו במודל של פורטר כדי לנתח את הרווחיות של התעשייה.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FC442EB6-CBF6-C190-FF62-0C7235D33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334" y="4142175"/>
            <a:ext cx="3020562" cy="230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9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040215" y="1268758"/>
            <a:ext cx="3543613" cy="3024337"/>
          </a:xfrm>
        </p:spPr>
        <p:txBody>
          <a:bodyPr anchor="t">
            <a:normAutofit/>
          </a:bodyPr>
          <a:lstStyle/>
          <a:p>
            <a:pPr algn="l" rtl="1"/>
            <a:r>
              <a:rPr lang="en-US" sz="2800" dirty="0"/>
              <a:t>Video: The Five Competitive Forces That Shape Strategy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09600" y="1268759"/>
            <a:ext cx="6705917" cy="4917601"/>
          </a:xfrm>
        </p:spPr>
        <p:txBody>
          <a:bodyPr/>
          <a:lstStyle/>
          <a:p>
            <a:pPr marL="0" indent="0" algn="r" rtl="1">
              <a:buNone/>
            </a:pPr>
            <a:r>
              <a:rPr lang="en-US" dirty="0">
                <a:hlinkClick r:id="rId2"/>
              </a:rPr>
              <a:t>https://youtu.be/mYF2_FBCvXw</a:t>
            </a:r>
            <a:endParaRPr lang="en-US" dirty="0"/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r>
              <a:rPr lang="he-IL" dirty="0"/>
              <a:t>החל מדקה 2:20</a:t>
            </a:r>
            <a:endParaRPr lang="en-US" dirty="0"/>
          </a:p>
        </p:txBody>
      </p:sp>
      <p:pic>
        <p:nvPicPr>
          <p:cNvPr id="5" name="תמונה 4" descr="תמונה שמכילה טקסט, חוץ&#10;&#10;התיאור נוצר באופן אוטומטי">
            <a:extLst>
              <a:ext uri="{FF2B5EF4-FFF2-40B4-BE49-F238E27FC236}">
                <a16:creationId xmlns:a16="http://schemas.microsoft.com/office/drawing/2014/main" id="{D7238654-A8C3-4E17-A1ED-A6A928471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8795"/>
            <a:ext cx="121920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0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78139F86-0615-EE26-A751-1075693BA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821" y="0"/>
            <a:ext cx="7732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7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BED083-F5C0-792B-E320-2169A64B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שוק של מנצחים</a:t>
            </a:r>
            <a:r>
              <a:rPr lang="en-GB" dirty="0"/>
              <a:t> </a:t>
            </a:r>
            <a:r>
              <a:rPr lang="he-IL" dirty="0"/>
              <a:t> </a:t>
            </a:r>
            <a:r>
              <a:rPr lang="en-GB" dirty="0"/>
              <a:t> </a:t>
            </a:r>
            <a:r>
              <a:rPr lang="en-US" dirty="0"/>
              <a:t>Winner-takes-all market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9BE9A17-829F-7312-3F0E-93CA6D93D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dirty="0"/>
              <a:t>חשבו על שווקים עם </a:t>
            </a:r>
            <a:r>
              <a:rPr lang="he-IL" b="1" dirty="0"/>
              <a:t>אפקט</a:t>
            </a:r>
            <a:r>
              <a:rPr lang="he-IL" dirty="0"/>
              <a:t> </a:t>
            </a:r>
            <a:r>
              <a:rPr lang="he-IL" b="1" dirty="0"/>
              <a:t>רשת</a:t>
            </a:r>
            <a:r>
              <a:rPr lang="he-IL" dirty="0"/>
              <a:t> חזק, כמו:</a:t>
            </a:r>
          </a:p>
          <a:p>
            <a:r>
              <a:rPr lang="he-IL" dirty="0"/>
              <a:t>רשתות חברתיות</a:t>
            </a:r>
          </a:p>
          <a:p>
            <a:r>
              <a:rPr lang="he-IL" dirty="0"/>
              <a:t>אפליקציות מסרים מידיים</a:t>
            </a:r>
          </a:p>
          <a:p>
            <a:r>
              <a:rPr lang="he-IL" dirty="0"/>
              <a:t>מנועי חיפוש</a:t>
            </a:r>
          </a:p>
          <a:p>
            <a:r>
              <a:rPr lang="he-IL" dirty="0"/>
              <a:t>מערכות הפעלה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האם בשווקים כאלה המודל של פורטר שימושי? </a:t>
            </a:r>
          </a:p>
          <a:p>
            <a:pPr marL="0" indent="0">
              <a:buNone/>
            </a:pPr>
            <a:r>
              <a:rPr lang="he-IL" dirty="0"/>
              <a:t>(זכרו: אני מנסה למצב את הפירמה במקום בו הכוחות התחרותיים חלשים, או לשנות את מבנה התעשייה לטובתי).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04928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340766"/>
            <a:ext cx="3963432" cy="2952329"/>
          </a:xfrm>
        </p:spPr>
        <p:txBody>
          <a:bodyPr anchor="t">
            <a:normAutofit/>
          </a:bodyPr>
          <a:lstStyle/>
          <a:p>
            <a:pPr algn="r" rtl="1"/>
            <a:r>
              <a:rPr lang="he-IL" sz="4000" dirty="0"/>
              <a:t>הרחבת מודל 5 הכוחות: מוצרים משלימים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48" y="1340767"/>
            <a:ext cx="6188069" cy="4845593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מוצרים תחליפיים מפחיתים את ערכו של מוצר – אך מוצרים משלימים מעלים את ערכו</a:t>
            </a:r>
          </a:p>
          <a:p>
            <a:pPr marL="0" indent="0">
              <a:buNone/>
            </a:pPr>
            <a:endParaRPr lang="en-US" dirty="0"/>
          </a:p>
          <a:p>
            <a:r>
              <a:rPr lang="he-IL" b="1" dirty="0"/>
              <a:t>חשבו: </a:t>
            </a:r>
            <a:r>
              <a:rPr lang="he-IL" dirty="0"/>
              <a:t>באילו תעשיות יש חשיבות אסטרטגית למוצרים משלימים?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95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>
            <a:extLst>
              <a:ext uri="{FF2B5EF4-FFF2-40B4-BE49-F238E27FC236}">
                <a16:creationId xmlns:a16="http://schemas.microsoft.com/office/drawing/2014/main" id="{F6283245-1B1F-4B24-83C5-3A0A5963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0216" y="1062230"/>
            <a:ext cx="3543613" cy="3230866"/>
          </a:xfrm>
        </p:spPr>
        <p:txBody>
          <a:bodyPr anchor="t"/>
          <a:lstStyle/>
          <a:p>
            <a:pPr rtl="1"/>
            <a:r>
              <a:rPr lang="he-IL" sz="2800" dirty="0"/>
              <a:t>המודל המורחב של פורטר:</a:t>
            </a:r>
            <a:br>
              <a:rPr lang="he-IL" sz="2800" dirty="0"/>
            </a:br>
            <a:r>
              <a:rPr lang="he-IL" sz="2800" dirty="0"/>
              <a:t>גם ליצרני מוצרים משלימים יש כוח מיקוח!</a:t>
            </a:r>
            <a:br>
              <a:rPr lang="he-IL" sz="2800" dirty="0"/>
            </a:br>
            <a:r>
              <a:rPr lang="he-IL" sz="2800" dirty="0"/>
              <a:t>(</a:t>
            </a:r>
            <a:r>
              <a:rPr lang="en-GB" sz="2800" dirty="0"/>
              <a:t>Complementors</a:t>
            </a:r>
            <a:r>
              <a:rPr lang="he-IL" sz="2800" dirty="0"/>
              <a:t>)</a:t>
            </a:r>
            <a:br>
              <a:rPr lang="he-IL" sz="2800" dirty="0"/>
            </a:br>
            <a:endParaRPr lang="en-GB" sz="2800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5CB3224B-5B2E-4C93-95AA-602562F1D20E}"/>
              </a:ext>
            </a:extLst>
          </p:cNvPr>
          <p:cNvSpPr/>
          <p:nvPr/>
        </p:nvSpPr>
        <p:spPr>
          <a:xfrm>
            <a:off x="2927648" y="2744924"/>
            <a:ext cx="1368152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מתחרים: יריבות בין מתחרים קיימים</a:t>
            </a:r>
            <a:endParaRPr lang="en-GB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EF4CCAE-ED05-4785-B4C1-79BE9ADB08C7}"/>
              </a:ext>
            </a:extLst>
          </p:cNvPr>
          <p:cNvSpPr/>
          <p:nvPr/>
        </p:nvSpPr>
        <p:spPr>
          <a:xfrm>
            <a:off x="2927648" y="1204794"/>
            <a:ext cx="1368152" cy="884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כוח המיקוח של הספקים</a:t>
            </a:r>
            <a:endParaRPr lang="en-GB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874D2CA-382D-4CED-A563-4589E64551E0}"/>
              </a:ext>
            </a:extLst>
          </p:cNvPr>
          <p:cNvSpPr/>
          <p:nvPr/>
        </p:nvSpPr>
        <p:spPr>
          <a:xfrm>
            <a:off x="2927648" y="4769138"/>
            <a:ext cx="1368152" cy="9001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כוח המיקוח של הלקוחות</a:t>
            </a:r>
            <a:endParaRPr lang="en-GB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B67999D-331B-419C-A370-80E1B5D2C777}"/>
              </a:ext>
            </a:extLst>
          </p:cNvPr>
          <p:cNvSpPr/>
          <p:nvPr/>
        </p:nvSpPr>
        <p:spPr>
          <a:xfrm>
            <a:off x="5145100" y="3499597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מוצרים תחליפיים</a:t>
            </a:r>
            <a:endParaRPr lang="en-GB" dirty="0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FCC7C1C4-A45E-4D5F-8E98-3AFEBA51A08D}"/>
              </a:ext>
            </a:extLst>
          </p:cNvPr>
          <p:cNvSpPr/>
          <p:nvPr/>
        </p:nvSpPr>
        <p:spPr>
          <a:xfrm>
            <a:off x="700604" y="2993364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איום של כניסה לשוק</a:t>
            </a:r>
            <a:endParaRPr lang="en-GB" dirty="0"/>
          </a:p>
        </p:txBody>
      </p:sp>
      <p:sp>
        <p:nvSpPr>
          <p:cNvPr id="10" name="חץ: ימינה 9">
            <a:extLst>
              <a:ext uri="{FF2B5EF4-FFF2-40B4-BE49-F238E27FC236}">
                <a16:creationId xmlns:a16="http://schemas.microsoft.com/office/drawing/2014/main" id="{6F9F0A7A-890F-4A81-8633-9ADE5891A05E}"/>
              </a:ext>
            </a:extLst>
          </p:cNvPr>
          <p:cNvSpPr/>
          <p:nvPr/>
        </p:nvSpPr>
        <p:spPr>
          <a:xfrm>
            <a:off x="2100710" y="3248980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775E1C23-DA18-49A1-AD98-A5948320E877}"/>
              </a:ext>
            </a:extLst>
          </p:cNvPr>
          <p:cNvSpPr/>
          <p:nvPr/>
        </p:nvSpPr>
        <p:spPr>
          <a:xfrm rot="16200000">
            <a:off x="3305491" y="4256067"/>
            <a:ext cx="612467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חץ: ימינה 11">
            <a:extLst>
              <a:ext uri="{FF2B5EF4-FFF2-40B4-BE49-F238E27FC236}">
                <a16:creationId xmlns:a16="http://schemas.microsoft.com/office/drawing/2014/main" id="{32C5222C-478A-435C-A558-E8FD79AE505F}"/>
              </a:ext>
            </a:extLst>
          </p:cNvPr>
          <p:cNvSpPr/>
          <p:nvPr/>
        </p:nvSpPr>
        <p:spPr>
          <a:xfrm rot="5400000">
            <a:off x="3305594" y="2241060"/>
            <a:ext cx="61226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חץ: ימינה 12">
            <a:extLst>
              <a:ext uri="{FF2B5EF4-FFF2-40B4-BE49-F238E27FC236}">
                <a16:creationId xmlns:a16="http://schemas.microsoft.com/office/drawing/2014/main" id="{17534C35-3E21-4D6C-9A44-EA81050D2239}"/>
              </a:ext>
            </a:extLst>
          </p:cNvPr>
          <p:cNvSpPr/>
          <p:nvPr/>
        </p:nvSpPr>
        <p:spPr>
          <a:xfrm rot="10800000">
            <a:off x="4324406" y="3718172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62E8AE00-7D15-4251-96FC-496A8895CBB4}"/>
              </a:ext>
            </a:extLst>
          </p:cNvPr>
          <p:cNvSpPr/>
          <p:nvPr/>
        </p:nvSpPr>
        <p:spPr>
          <a:xfrm>
            <a:off x="5145100" y="2420888"/>
            <a:ext cx="1368152" cy="871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מוצרים משלימים</a:t>
            </a:r>
            <a:endParaRPr lang="en-GB" dirty="0"/>
          </a:p>
        </p:txBody>
      </p:sp>
      <p:sp>
        <p:nvSpPr>
          <p:cNvPr id="15" name="חץ: ימינה 14">
            <a:extLst>
              <a:ext uri="{FF2B5EF4-FFF2-40B4-BE49-F238E27FC236}">
                <a16:creationId xmlns:a16="http://schemas.microsoft.com/office/drawing/2014/main" id="{26DDEAA2-4DF8-44D2-A7EB-951E157F4C30}"/>
              </a:ext>
            </a:extLst>
          </p:cNvPr>
          <p:cNvSpPr/>
          <p:nvPr/>
        </p:nvSpPr>
        <p:spPr>
          <a:xfrm rot="10800000">
            <a:off x="4324406" y="2729454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36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196750"/>
            <a:ext cx="3963432" cy="3096345"/>
          </a:xfrm>
        </p:spPr>
        <p:txBody>
          <a:bodyPr anchor="t">
            <a:normAutofit/>
          </a:bodyPr>
          <a:lstStyle/>
          <a:p>
            <a:pPr algn="r" rtl="1"/>
            <a:r>
              <a:rPr lang="he-IL" sz="4000" dirty="0"/>
              <a:t>2 מוצרים משלימים:</a:t>
            </a:r>
            <a:br>
              <a:rPr lang="he-IL" sz="4000" dirty="0"/>
            </a:br>
            <a:r>
              <a:rPr lang="en-US" sz="4000" dirty="0"/>
              <a:t> </a:t>
            </a:r>
            <a:r>
              <a:rPr lang="he-IL" sz="4000" dirty="0"/>
              <a:t>מי מרוויח?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424" y="1196751"/>
            <a:ext cx="6404093" cy="4989609"/>
          </a:xfrm>
        </p:spPr>
        <p:txBody>
          <a:bodyPr/>
          <a:lstStyle/>
          <a:p>
            <a:pPr algn="r" rtl="1"/>
            <a:r>
              <a:rPr lang="he-IL" dirty="0"/>
              <a:t>גם כאן לכוח המיקוח יש חשיבות רבה</a:t>
            </a:r>
          </a:p>
          <a:p>
            <a:pPr lvl="1" algn="r" rtl="1"/>
            <a:r>
              <a:rPr lang="he-IL" dirty="0"/>
              <a:t>זה שיוצר את המיצוב החזק יותר בשוק ירוויח יותר</a:t>
            </a:r>
          </a:p>
          <a:p>
            <a:pPr algn="r" rtl="1"/>
            <a:r>
              <a:rPr lang="he-IL" dirty="0"/>
              <a:t>המפתח הוא להשיג מונופול, בידול ומחסור באספקה </a:t>
            </a:r>
            <a:r>
              <a:rPr lang="he-IL" b="1" dirty="0"/>
              <a:t>במוצר</a:t>
            </a:r>
            <a:r>
              <a:rPr lang="he-IL" dirty="0"/>
              <a:t> </a:t>
            </a:r>
            <a:r>
              <a:rPr lang="he-IL" b="1" dirty="0"/>
              <a:t>שלך</a:t>
            </a:r>
            <a:r>
              <a:rPr lang="he-IL" dirty="0"/>
              <a:t> - תוך עידוד תחרות, קומודטיזציה ועודף כושר ייצור </a:t>
            </a:r>
            <a:r>
              <a:rPr lang="he-IL" b="1" dirty="0"/>
              <a:t>במוצר המשלים</a:t>
            </a:r>
          </a:p>
          <a:p>
            <a:pPr marL="0" indent="0">
              <a:buNone/>
            </a:pPr>
            <a:r>
              <a:rPr lang="he-IL" b="1" dirty="0"/>
              <a:t>חשבו: </a:t>
            </a:r>
            <a:r>
              <a:rPr lang="he-IL" dirty="0"/>
              <a:t>מדוע גוגל מחלקת חינם כלי פיתוח אפליקציות לאנדרואיד?</a:t>
            </a:r>
          </a:p>
          <a:p>
            <a:pPr algn="r" rtl="1"/>
            <a:endParaRPr lang="he-IL" b="1" dirty="0"/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433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דיון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יצרני מדפסות הזרקת דיו מיצרים את רוב הרווחים שלהם ממכירות של מחסניות דיו.</a:t>
            </a:r>
          </a:p>
          <a:p>
            <a:pPr algn="r" rtl="1"/>
            <a:r>
              <a:rPr lang="he-IL" dirty="0"/>
              <a:t>למה מחסניות רווחיות יותר ממדפסות?</a:t>
            </a:r>
          </a:p>
          <a:p>
            <a:r>
              <a:rPr lang="he-IL" dirty="0"/>
              <a:t>כיצד סטנדרטיזציה תשפיע על שוק המחסניות?</a:t>
            </a:r>
            <a:endParaRPr lang="en-US" dirty="0"/>
          </a:p>
          <a:p>
            <a:pPr marL="0" indent="0" algn="r" rtl="1">
              <a:buNone/>
            </a:pPr>
            <a:endParaRPr lang="he-IL" dirty="0"/>
          </a:p>
        </p:txBody>
      </p:sp>
      <p:pic>
        <p:nvPicPr>
          <p:cNvPr id="5" name="תמונה 4" descr="תמונה שמכילה מדפסת, עיצוב, בתוך מבנה, שחור ולבן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148ACB60-B027-E279-C998-6C28D597E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3212976"/>
            <a:ext cx="2590201" cy="244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92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br>
              <a:rPr lang="he-IL" sz="5400" dirty="0"/>
            </a:br>
            <a:r>
              <a:rPr lang="he-IL" sz="5400" dirty="0"/>
              <a:t>סביבה – נושאים נוספים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365449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8328" y="1196750"/>
            <a:ext cx="2535500" cy="3096345"/>
          </a:xfrm>
        </p:spPr>
        <p:txBody>
          <a:bodyPr anchor="t">
            <a:normAutofit/>
          </a:bodyPr>
          <a:lstStyle/>
          <a:p>
            <a:pPr algn="r" rtl="1"/>
            <a:r>
              <a:rPr lang="he-IL" sz="4000" dirty="0"/>
              <a:t>גורמי מפתח להצלחה</a:t>
            </a:r>
            <a:br>
              <a:rPr lang="he-IL" sz="4000" dirty="0"/>
            </a:br>
            <a:r>
              <a:rPr lang="en-US" sz="4000" dirty="0"/>
              <a:t>key success factor</a:t>
            </a:r>
            <a:r>
              <a:rPr lang="en-GB" sz="4000" dirty="0"/>
              <a:t>s</a:t>
            </a:r>
            <a:r>
              <a:rPr lang="he-IL" sz="4000" dirty="0"/>
              <a:t>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7058" y="1196750"/>
            <a:ext cx="6705917" cy="4989609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dirty="0"/>
              <a:t>גורמים בתעשייה המשפיעים על יכולתה של פירמה להגיע לביצועים טובים יותר מהמתחרים, וקובעים את יכולתה של הפירמה לשרוד ולשגשג. </a:t>
            </a:r>
          </a:p>
          <a:p>
            <a:pPr marL="0" indent="0" algn="r" rtl="1">
              <a:buNone/>
            </a:pPr>
            <a:r>
              <a:rPr lang="he-IL" dirty="0"/>
              <a:t>למעשה – מהו "סוד ההצלחה" בתעשייה?</a:t>
            </a:r>
            <a:endParaRPr lang="en-US" dirty="0"/>
          </a:p>
          <a:p>
            <a:pPr marL="0" indent="0" algn="r" rtl="1">
              <a:buNone/>
            </a:pPr>
            <a:r>
              <a:rPr lang="he-IL" dirty="0"/>
              <a:t>יש להבין:</a:t>
            </a:r>
          </a:p>
          <a:p>
            <a:pPr marL="559802" indent="-457200">
              <a:buFont typeface="+mj-lt"/>
              <a:buAutoNum type="arabicPeriod"/>
            </a:pPr>
            <a:r>
              <a:rPr lang="he-IL" dirty="0"/>
              <a:t>מה הלקוחות שלנו רוצים?</a:t>
            </a:r>
          </a:p>
          <a:p>
            <a:pPr marL="559802" indent="-457200">
              <a:buFont typeface="+mj-lt"/>
              <a:buAutoNum type="arabicPeriod"/>
            </a:pPr>
            <a:r>
              <a:rPr lang="he-IL" dirty="0"/>
              <a:t>מה הפירמה צריכה לעשות כדי לשרוד בתחרות?</a:t>
            </a:r>
          </a:p>
          <a:p>
            <a:pPr marL="0" indent="0" algn="r" rtl="1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8631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C6B7D6-8407-0532-3803-05033A2D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 – תעשיית התעופה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6185286-5355-92CC-619F-816F50940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2602" indent="0">
              <a:buNone/>
            </a:pPr>
            <a:r>
              <a:rPr lang="he-IL" dirty="0"/>
              <a:t>מה הלקוחות רוצים? </a:t>
            </a:r>
            <a:r>
              <a:rPr lang="he-IL" b="1" dirty="0"/>
              <a:t>מחירים זולים</a:t>
            </a:r>
          </a:p>
          <a:p>
            <a:pPr marL="102602" indent="0">
              <a:buNone/>
            </a:pPr>
            <a:r>
              <a:rPr lang="he-IL" dirty="0"/>
              <a:t>לכן </a:t>
            </a:r>
            <a:r>
              <a:rPr lang="he-IL" b="1" dirty="0"/>
              <a:t>יתרון בעלויות </a:t>
            </a:r>
            <a:r>
              <a:rPr lang="he-IL" dirty="0"/>
              <a:t>הוא הבסיס העיקרי ליתרון תחרותי. </a:t>
            </a:r>
          </a:p>
          <a:p>
            <a:pPr marL="102602" indent="0">
              <a:buNone/>
            </a:pPr>
            <a:r>
              <a:rPr lang="he-IL" dirty="0"/>
              <a:t>גורמי מפתח להצלחה הם </a:t>
            </a:r>
            <a:r>
              <a:rPr lang="he-IL" b="1" dirty="0"/>
              <a:t>הגורמים שקובעים את העלויות: </a:t>
            </a:r>
            <a:r>
              <a:rPr lang="he-IL" dirty="0"/>
              <a:t>שדות התעופה (קטנים וזולים), מספר הדגמים של המטוסים (עדיף כמה שפחות, בגלל עלויות אחזקה)</a:t>
            </a:r>
          </a:p>
          <a:p>
            <a:pPr marL="102602" indent="0">
              <a:buNone/>
            </a:pPr>
            <a:endParaRPr lang="he-IL" dirty="0"/>
          </a:p>
          <a:p>
            <a:pPr marL="102602" indent="0">
              <a:buNone/>
            </a:pPr>
            <a:r>
              <a:rPr lang="he-IL" dirty="0"/>
              <a:t>מה הפירמה צריכה לעשות כדי לשרוד בתחרות?</a:t>
            </a:r>
          </a:p>
          <a:p>
            <a:pPr marL="102602" indent="0">
              <a:buNone/>
            </a:pPr>
            <a:r>
              <a:rPr lang="he-IL" dirty="0"/>
              <a:t>כדי לשרוד תקופות של מיתון יש צורך </a:t>
            </a:r>
            <a:r>
              <a:rPr lang="he-IL" b="1" dirty="0"/>
              <a:t>בחוסן פיננסי</a:t>
            </a:r>
            <a:r>
              <a:rPr lang="he-IL" dirty="0"/>
              <a:t> (וכנראה גם יחסים טובים עם</a:t>
            </a:r>
          </a:p>
          <a:p>
            <a:pPr marL="102602" indent="0">
              <a:buNone/>
            </a:pPr>
            <a:r>
              <a:rPr lang="he-IL" dirty="0"/>
              <a:t>רגולטורים וספקים).</a:t>
            </a:r>
          </a:p>
        </p:txBody>
      </p:sp>
    </p:spTree>
    <p:extLst>
      <p:ext uri="{BB962C8B-B14F-4D97-AF65-F5344CB8AC3E}">
        <p14:creationId xmlns:p14="http://schemas.microsoft.com/office/powerpoint/2010/main" val="2612070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A113D9-F24A-6AD5-D074-11EC7E6C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 נוספת – תעשיית האופנה</a:t>
            </a:r>
            <a:endParaRPr lang="LID4096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6C065A4-8938-CBFD-563F-FE1C87E1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מה הלקוחות רוצים? </a:t>
            </a:r>
          </a:p>
          <a:p>
            <a:pPr marL="0" indent="0">
              <a:buNone/>
            </a:pPr>
            <a:r>
              <a:rPr lang="he-IL" dirty="0"/>
              <a:t>יש מגוון העדפות:</a:t>
            </a:r>
          </a:p>
          <a:p>
            <a:r>
              <a:rPr lang="he-IL" dirty="0"/>
              <a:t>משלמים פרמיום עבור מותג, סגנון, בלעדיות ואיכות.</a:t>
            </a:r>
          </a:p>
          <a:p>
            <a:r>
              <a:rPr lang="he-IL" dirty="0"/>
              <a:t>השוק ההמוני רגיש מאוד למחיר.</a:t>
            </a:r>
          </a:p>
          <a:p>
            <a:pPr marL="0" indent="0">
              <a:buNone/>
            </a:pPr>
            <a:r>
              <a:rPr lang="he-IL" dirty="0"/>
              <a:t>גורמי המפתח להצלחה:</a:t>
            </a:r>
          </a:p>
          <a:p>
            <a:r>
              <a:rPr lang="he-IL" dirty="0"/>
              <a:t>שילוב של בידול עם עלויות נמוכות</a:t>
            </a:r>
          </a:p>
          <a:p>
            <a:r>
              <a:rPr lang="he-IL" dirty="0"/>
              <a:t>בידול דורש סגנון, מותג, איכות ותגובתיות מהירה לטרנדים</a:t>
            </a:r>
          </a:p>
          <a:p>
            <a:r>
              <a:rPr lang="he-IL" dirty="0"/>
              <a:t>כדי להוריד עלויות יש לייצר במדינות עם שכר נמוך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50305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EC2793-F818-4D48-95DD-F5BB78E86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3" y="980728"/>
            <a:ext cx="7745446" cy="476305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he-IL" b="1" dirty="0"/>
              <a:t>תרגיל: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e-IL" dirty="0"/>
              <a:t>מהו גורם המפתח להצלחה החשוב ביותר עבור מנוע חיפוש?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e-IL" dirty="0"/>
              <a:t>(גוגל, </a:t>
            </a:r>
            <a:r>
              <a:rPr lang="he-IL" dirty="0" err="1"/>
              <a:t>בינג</a:t>
            </a:r>
            <a:r>
              <a:rPr lang="he-IL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he-IL" dirty="0"/>
          </a:p>
          <a:p>
            <a:pPr marL="0" indent="0">
              <a:lnSpc>
                <a:spcPct val="100000"/>
              </a:lnSpc>
              <a:buNone/>
            </a:pPr>
            <a:endParaRPr lang="he-IL" dirty="0"/>
          </a:p>
        </p:txBody>
      </p:sp>
      <p:pic>
        <p:nvPicPr>
          <p:cNvPr id="4" name="תמונה 3" descr="תמונה שמכילה טקסט, חוץ&#10;&#10;התיאור נוצר באופן אוטומטי">
            <a:extLst>
              <a:ext uri="{FF2B5EF4-FFF2-40B4-BE49-F238E27FC236}">
                <a16:creationId xmlns:a16="http://schemas.microsoft.com/office/drawing/2014/main" id="{7828FF8D-68BD-4545-BEDF-AFF14DB04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8795"/>
            <a:ext cx="121920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5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6C8A89-9402-4036-A600-92B3BA1C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4231" y="1196752"/>
            <a:ext cx="3399597" cy="3096344"/>
          </a:xfrm>
        </p:spPr>
        <p:txBody>
          <a:bodyPr anchor="t"/>
          <a:lstStyle/>
          <a:p>
            <a:r>
              <a:rPr lang="he-IL" dirty="0"/>
              <a:t>מהם המאפיינים של אסטרטגיות מוצלחות?</a:t>
            </a:r>
            <a:endParaRPr lang="en-GB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D7EE41F-889D-4FA7-80CE-187DB514F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  <a:p>
            <a:r>
              <a:rPr lang="he-IL" dirty="0"/>
              <a:t>מטרות ברורות, עקביות וארוכות טווח</a:t>
            </a:r>
          </a:p>
          <a:p>
            <a:r>
              <a:rPr lang="he-IL" b="1" dirty="0"/>
              <a:t>הבנה מעמיקה של הסביבה התחרותית</a:t>
            </a:r>
          </a:p>
          <a:p>
            <a:r>
              <a:rPr lang="he-IL" dirty="0"/>
              <a:t>הערכה אובייקטיבית של משאבים</a:t>
            </a:r>
          </a:p>
          <a:p>
            <a:r>
              <a:rPr lang="he-IL" dirty="0"/>
              <a:t>יישום אפקטיבי</a:t>
            </a:r>
          </a:p>
          <a:p>
            <a:endParaRPr lang="en-GB" dirty="0"/>
          </a:p>
        </p:txBody>
      </p:sp>
      <p:pic>
        <p:nvPicPr>
          <p:cNvPr id="4" name="תמונה 3" descr="תמונה שמכילה טקסט, צילום מסך, תרשים, עיגול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97D48A21-F8DC-30B9-FF94-3FC31F7CE0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7" t="23220" r="13746"/>
          <a:stretch/>
        </p:blipFill>
        <p:spPr>
          <a:xfrm>
            <a:off x="1343472" y="3429000"/>
            <a:ext cx="7143828" cy="3247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703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תורת המשחקים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במודל של פורטר כולם מתחרים</a:t>
            </a:r>
          </a:p>
          <a:p>
            <a:pPr algn="r" rtl="1"/>
            <a:r>
              <a:rPr lang="he-IL" dirty="0"/>
              <a:t>אבל במציאות:</a:t>
            </a:r>
          </a:p>
          <a:p>
            <a:pPr lvl="1" algn="r" rtl="1"/>
            <a:r>
              <a:rPr lang="he-IL" sz="2400" dirty="0"/>
              <a:t>יש קשרים עסקיים שהם בעיקר </a:t>
            </a:r>
            <a:r>
              <a:rPr lang="he-IL" sz="2400" b="1" dirty="0"/>
              <a:t>תחרותיים</a:t>
            </a:r>
            <a:r>
              <a:rPr lang="he-IL" sz="2400" dirty="0"/>
              <a:t> (קולה ופפסי)</a:t>
            </a:r>
          </a:p>
          <a:p>
            <a:pPr lvl="1" algn="r" rtl="1"/>
            <a:r>
              <a:rPr lang="he-IL" sz="2400" dirty="0"/>
              <a:t>יש קשרים עסקיים שהם בעיקר </a:t>
            </a:r>
            <a:r>
              <a:rPr lang="he-IL" sz="2400" b="1" dirty="0"/>
              <a:t>שיתופי-פעולה</a:t>
            </a:r>
            <a:r>
              <a:rPr lang="he-IL" sz="2400" dirty="0"/>
              <a:t> (אינטל ומיקרוסופט)</a:t>
            </a:r>
          </a:p>
          <a:p>
            <a:pPr lvl="1" algn="r" rtl="1"/>
            <a:r>
              <a:rPr lang="he-IL" sz="2400" dirty="0"/>
              <a:t>כל הקשרים העסקיים משלבים אלמנטים של שניהם!</a:t>
            </a:r>
          </a:p>
          <a:p>
            <a:pPr lvl="1" algn="r" rtl="1"/>
            <a:endParaRPr lang="he-IL" sz="2400" dirty="0"/>
          </a:p>
          <a:p>
            <a:pPr marL="247716" lvl="1" indent="0" algn="r" rtl="1">
              <a:buNone/>
            </a:pPr>
            <a:r>
              <a:rPr lang="he-IL" sz="2400" dirty="0"/>
              <a:t>חשבו: </a:t>
            </a:r>
          </a:p>
          <a:p>
            <a:pPr lvl="1"/>
            <a:r>
              <a:rPr lang="he-IL" sz="2400" dirty="0"/>
              <a:t>מה יעשו קולה ופפסי אם הממשל בארה"ב יחליט שאסור למכור משקאות עם סוכר?</a:t>
            </a:r>
          </a:p>
          <a:p>
            <a:pPr lvl="1"/>
            <a:r>
              <a:rPr lang="he-IL" sz="2400" dirty="0"/>
              <a:t>מה טבעם של הקשרים העסקיים בין אפל וסמסונג?</a:t>
            </a:r>
          </a:p>
          <a:p>
            <a:pPr lvl="1"/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708826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18ECD7F1-B5DB-D072-41E0-BAA2B9426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461" y="0"/>
            <a:ext cx="7191078" cy="68580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075BDA42-533E-E68C-85D8-5DAEC416AF60}"/>
              </a:ext>
            </a:extLst>
          </p:cNvPr>
          <p:cNvSpPr txBox="1"/>
          <p:nvPr/>
        </p:nvSpPr>
        <p:spPr>
          <a:xfrm>
            <a:off x="191343" y="4005064"/>
            <a:ext cx="2309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hlinkClick r:id="rId3"/>
              </a:rPr>
              <a:t>https://www.pcmag.com/news/apple-will-be-more-reliant-on-samsung-display-for-iphone-15-production</a:t>
            </a:r>
            <a:r>
              <a:rPr lang="en-US" sz="1600" dirty="0"/>
              <a:t> 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289102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תורת המשחקים - דילמת האסיר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11" y="2512711"/>
            <a:ext cx="11670177" cy="38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1979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איך תורת המשחקים עוזרת לי?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endParaRPr lang="he-IL" dirty="0"/>
          </a:p>
          <a:p>
            <a:pPr algn="r" rtl="1"/>
            <a:r>
              <a:rPr lang="he-IL" dirty="0"/>
              <a:t>מנבאת תוצאות במצבים מסוימים, עם הנחות בסיס ברורות ומעט משתנים </a:t>
            </a:r>
          </a:p>
          <a:p>
            <a:pPr lvl="1" algn="r" rtl="1"/>
            <a:r>
              <a:rPr lang="he-IL" dirty="0"/>
              <a:t>דוגמה: בדילמת האסיר יש שני שחקנים, "משחקים" פעם אחת, אין תקשורת ביניהם </a:t>
            </a:r>
          </a:p>
          <a:p>
            <a:r>
              <a:rPr lang="he-IL" dirty="0"/>
              <a:t>במצבים מורכבים (ומציאותיים)</a:t>
            </a:r>
            <a:r>
              <a:rPr lang="en-US" dirty="0"/>
              <a:t> </a:t>
            </a:r>
            <a:r>
              <a:rPr lang="he-IL" dirty="0"/>
              <a:t>יותר, השימוש בתורת המשחקים מוגבל</a:t>
            </a:r>
          </a:p>
        </p:txBody>
      </p:sp>
    </p:spTree>
    <p:extLst>
      <p:ext uri="{BB962C8B-B14F-4D97-AF65-F5344CB8AC3E}">
        <p14:creationId xmlns:p14="http://schemas.microsoft.com/office/powerpoint/2010/main" val="1903670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268760"/>
            <a:ext cx="3963432" cy="3024336"/>
          </a:xfrm>
        </p:spPr>
        <p:txBody>
          <a:bodyPr anchor="t">
            <a:normAutofit/>
          </a:bodyPr>
          <a:lstStyle/>
          <a:p>
            <a:pPr rtl="1"/>
            <a:r>
              <a:rPr lang="he-IL" dirty="0"/>
              <a:t>הגדרת </a:t>
            </a:r>
            <a:br>
              <a:rPr lang="he-IL" dirty="0"/>
            </a:br>
            <a:r>
              <a:rPr lang="he-IL" dirty="0"/>
              <a:t>התעשייה/השוק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59"/>
            <a:ext cx="6705917" cy="4917601"/>
          </a:xfrm>
        </p:spPr>
        <p:txBody>
          <a:bodyPr>
            <a:normAutofit/>
          </a:bodyPr>
          <a:lstStyle/>
          <a:p>
            <a:r>
              <a:rPr lang="he-IL" dirty="0"/>
              <a:t>כלכלנים אומרים שתעשייה היא קבוצת חברות שמספקות לשוק מסוים</a:t>
            </a:r>
          </a:p>
          <a:p>
            <a:pPr lvl="1"/>
            <a:r>
              <a:rPr lang="he-IL" dirty="0"/>
              <a:t> התאמה גבוהה בין "תעשייה" ל"שוק"</a:t>
            </a:r>
          </a:p>
          <a:p>
            <a:r>
              <a:rPr lang="he-IL" dirty="0"/>
              <a:t>נאמץ את הגישה הזאת</a:t>
            </a:r>
          </a:p>
          <a:p>
            <a:r>
              <a:rPr lang="he-IL" dirty="0"/>
              <a:t>אך בשפה יומיומית "תעשייה" מזוהה עם ענפים רחבים, ו"שוק" מתייחס למוצר ספציפי</a:t>
            </a:r>
          </a:p>
        </p:txBody>
      </p:sp>
    </p:spTree>
    <p:extLst>
      <p:ext uri="{BB962C8B-B14F-4D97-AF65-F5344CB8AC3E}">
        <p14:creationId xmlns:p14="http://schemas.microsoft.com/office/powerpoint/2010/main" val="87957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340766"/>
            <a:ext cx="3963432" cy="2952329"/>
          </a:xfrm>
        </p:spPr>
        <p:txBody>
          <a:bodyPr anchor="t">
            <a:normAutofit/>
          </a:bodyPr>
          <a:lstStyle/>
          <a:p>
            <a:pPr rtl="1"/>
            <a:r>
              <a:rPr lang="he-IL" sz="4000" dirty="0"/>
              <a:t>איך מגדירים?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0767"/>
            <a:ext cx="6705917" cy="4845593"/>
          </a:xfrm>
        </p:spPr>
        <p:txBody>
          <a:bodyPr/>
          <a:lstStyle/>
          <a:p>
            <a:r>
              <a:rPr lang="he-IL" dirty="0"/>
              <a:t>נקודת ההתחלה: אילו חברות מתחרות לספק מוצר/שירות מסוים?</a:t>
            </a:r>
          </a:p>
          <a:p>
            <a:pPr algn="r" rtl="1"/>
            <a:r>
              <a:rPr lang="he-IL" dirty="0"/>
              <a:t>הגבולות מוגדרים על ידי </a:t>
            </a:r>
            <a:r>
              <a:rPr lang="he-IL" b="1" dirty="0"/>
              <a:t>תחליפיות </a:t>
            </a:r>
            <a:r>
              <a:rPr lang="he-IL" dirty="0"/>
              <a:t>–</a:t>
            </a:r>
            <a:r>
              <a:rPr lang="he-IL" b="1" dirty="0"/>
              <a:t> </a:t>
            </a:r>
            <a:r>
              <a:rPr lang="he-IL" dirty="0"/>
              <a:t>שני מימדים: </a:t>
            </a:r>
          </a:p>
          <a:p>
            <a:pPr lvl="1" algn="r" rtl="1"/>
            <a:r>
              <a:rPr lang="he-IL" b="1" dirty="0"/>
              <a:t>צד הביקוש</a:t>
            </a:r>
            <a:r>
              <a:rPr lang="he-IL" dirty="0"/>
              <a:t>: אם עבור הצרכן יגואר הוא מוצר תחליפי למכוניות יוקרה אחרות - השוק הרלוונטי של יגואר הוא מכוניות יוקרה (ולא כל תעשיית הרכב)</a:t>
            </a:r>
          </a:p>
          <a:p>
            <a:pPr lvl="1" algn="r" rtl="1"/>
            <a:r>
              <a:rPr lang="he-IL" b="1" dirty="0"/>
              <a:t>צד ההיצע</a:t>
            </a:r>
            <a:r>
              <a:rPr lang="he-IL" dirty="0"/>
              <a:t>: יצרני מכשירי חשמל ביתיים מסווגים כתעשייה אחת, כי הם יכולים להשתמש באותם מפעלים וערוצי הפצה למכשירים שונים (לא בגלל שמקרר הוא מוצר תחליפי למדיח כלים) </a:t>
            </a:r>
          </a:p>
          <a:p>
            <a:pPr algn="r" rtl="1"/>
            <a:r>
              <a:rPr lang="he-IL" dirty="0"/>
              <a:t>יש צורך </a:t>
            </a:r>
            <a:r>
              <a:rPr lang="he-IL" b="1" dirty="0"/>
              <a:t>בשיקול דעת</a:t>
            </a:r>
            <a:endParaRPr lang="he-IL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3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EC2793-F818-4D48-95DD-F5BB78E86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041" y="1124744"/>
            <a:ext cx="6705917" cy="461904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he-IL" b="1" dirty="0"/>
              <a:t>דיון: </a:t>
            </a:r>
            <a:r>
              <a:rPr lang="he-IL" dirty="0"/>
              <a:t>איך תגדירו את השוק של:</a:t>
            </a:r>
          </a:p>
          <a:p>
            <a:pPr>
              <a:lnSpc>
                <a:spcPct val="100000"/>
              </a:lnSpc>
            </a:pPr>
            <a:r>
              <a:rPr lang="he-IL" dirty="0"/>
              <a:t>קסטרו?</a:t>
            </a:r>
          </a:p>
          <a:p>
            <a:pPr>
              <a:lnSpc>
                <a:spcPct val="100000"/>
              </a:lnSpc>
            </a:pPr>
            <a:r>
              <a:rPr lang="he-IL" dirty="0"/>
              <a:t>רמי לוי?</a:t>
            </a:r>
          </a:p>
          <a:p>
            <a:pPr>
              <a:lnSpc>
                <a:spcPct val="100000"/>
              </a:lnSpc>
            </a:pPr>
            <a:r>
              <a:rPr lang="he-IL" dirty="0" err="1"/>
              <a:t>לנדוור</a:t>
            </a:r>
            <a:r>
              <a:rPr lang="he-IL" dirty="0"/>
              <a:t>?</a:t>
            </a:r>
          </a:p>
        </p:txBody>
      </p:sp>
      <p:pic>
        <p:nvPicPr>
          <p:cNvPr id="4" name="תמונה 3" descr="תמונה שמכילה טקסט, חוץ&#10;&#10;התיאור נוצר באופן אוטומטי">
            <a:extLst>
              <a:ext uri="{FF2B5EF4-FFF2-40B4-BE49-F238E27FC236}">
                <a16:creationId xmlns:a16="http://schemas.microsoft.com/office/drawing/2014/main" id="{7828FF8D-68BD-4545-BEDF-AFF14DB04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8795"/>
            <a:ext cx="121920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2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268758"/>
            <a:ext cx="3963432" cy="3024337"/>
          </a:xfrm>
        </p:spPr>
        <p:txBody>
          <a:bodyPr anchor="t"/>
          <a:lstStyle/>
          <a:p>
            <a:r>
              <a:rPr lang="he-IL" sz="4000" dirty="0"/>
              <a:t>פילוח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268758"/>
            <a:ext cx="6705917" cy="4917601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ניתוח מפורט דורש מיקוד בשוק צר יותר </a:t>
            </a:r>
          </a:p>
          <a:p>
            <a:pPr algn="r" rtl="1"/>
            <a:r>
              <a:rPr lang="he-IL" dirty="0"/>
              <a:t>פילוח: חלוקת תעשיות לשווקים ספציפיים</a:t>
            </a:r>
          </a:p>
          <a:p>
            <a:pPr algn="r" rtl="1"/>
            <a:r>
              <a:rPr lang="he-IL" dirty="0"/>
              <a:t>חשוב במיוחד כשהתחרות שונה בפלחים שונים</a:t>
            </a:r>
          </a:p>
          <a:p>
            <a:r>
              <a:rPr lang="he-IL" dirty="0"/>
              <a:t>המטרה היא לזהות פלחים אטרקטיביים, לקבוע באילו פלחים לפעול, ולבחור אסטרטגיות לפלחים שונים </a:t>
            </a:r>
          </a:p>
        </p:txBody>
      </p:sp>
    </p:spTree>
    <p:extLst>
      <p:ext uri="{BB962C8B-B14F-4D97-AF65-F5344CB8AC3E}">
        <p14:creationId xmlns:p14="http://schemas.microsoft.com/office/powerpoint/2010/main" val="138797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908722"/>
            <a:ext cx="3963432" cy="3384374"/>
          </a:xfrm>
        </p:spPr>
        <p:txBody>
          <a:bodyPr anchor="t">
            <a:normAutofit/>
          </a:bodyPr>
          <a:lstStyle/>
          <a:p>
            <a:pPr algn="r" rtl="1"/>
            <a:r>
              <a:rPr lang="he-IL" sz="4000" dirty="0"/>
              <a:t>איך לפלח? </a:t>
            </a:r>
            <a:br>
              <a:rPr lang="he-IL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171" y="908722"/>
            <a:ext cx="7642021" cy="527764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he-IL" dirty="0"/>
              <a:t>מצאו בסיס לפילוח עם חשיבות אסטרטגית</a:t>
            </a:r>
          </a:p>
          <a:p>
            <a:pPr marL="880110" lvl="1" indent="-514350"/>
            <a:r>
              <a:rPr lang="he-IL" dirty="0"/>
              <a:t>המפתח: תחליפיות</a:t>
            </a:r>
            <a:r>
              <a:rPr lang="en-US" dirty="0"/>
              <a:t> </a:t>
            </a:r>
            <a:r>
              <a:rPr lang="he-IL" dirty="0"/>
              <a:t>על ידי לקוחות ויצרנים (רמות מחירים שונות נותנות כיוון טוב)</a:t>
            </a:r>
          </a:p>
          <a:p>
            <a:pPr marL="514350" indent="-514350">
              <a:buFont typeface="+mj-lt"/>
              <a:buAutoNum type="arabicPeriod"/>
            </a:pPr>
            <a:r>
              <a:rPr lang="he-IL" dirty="0"/>
              <a:t>בנו "מטריצת פילוח" </a:t>
            </a:r>
          </a:p>
          <a:p>
            <a:pPr marL="880110" lvl="1" indent="-514350"/>
            <a:r>
              <a:rPr lang="he-IL" dirty="0"/>
              <a:t>דוגמה: תעשיית הרכב בד"כ מפולח לפי סוג הרכב </a:t>
            </a:r>
            <a:r>
              <a:rPr lang="he-IL" dirty="0" err="1"/>
              <a:t>ואיזור</a:t>
            </a:r>
            <a:r>
              <a:rPr lang="he-IL" dirty="0"/>
              <a:t> גאוגרפי</a:t>
            </a:r>
          </a:p>
          <a:p>
            <a:pPr algn="r" rtl="1"/>
            <a:endParaRPr lang="en-US" dirty="0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265B78E1-F703-4E13-AF41-D71ABEF76FD1}"/>
              </a:ext>
            </a:extLst>
          </p:cNvPr>
          <p:cNvGraphicFramePr>
            <a:graphicFrameLocks noGrp="1"/>
          </p:cNvGraphicFramePr>
          <p:nvPr/>
        </p:nvGraphicFramePr>
        <p:xfrm>
          <a:off x="792775" y="3547542"/>
          <a:ext cx="7272811" cy="286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973">
                  <a:extLst>
                    <a:ext uri="{9D8B030D-6E8A-4147-A177-3AD203B41FA5}">
                      <a16:colId xmlns:a16="http://schemas.microsoft.com/office/drawing/2014/main" val="2592908059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2312652168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3519929034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3531802687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2160088760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236710724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2274629900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אוסטרליה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אפריקה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אירופה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אסיה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דרום אמריקה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צפון אמריקה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619481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משפחתי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0697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פאר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13289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טנדר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083997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ספורט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03305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מיני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927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63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397" y="1484782"/>
            <a:ext cx="3963432" cy="2808313"/>
          </a:xfrm>
        </p:spPr>
        <p:txBody>
          <a:bodyPr anchor="t">
            <a:normAutofit/>
          </a:bodyPr>
          <a:lstStyle/>
          <a:p>
            <a:pPr algn="r" rtl="1"/>
            <a:r>
              <a:rPr lang="he-IL" sz="4000" dirty="0"/>
              <a:t>איך לפלח?</a:t>
            </a:r>
            <a:br>
              <a:rPr lang="he-IL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484783"/>
            <a:ext cx="5323973" cy="470157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he-IL" dirty="0"/>
              <a:t>נתחו את האטרקטיביות של כל פלח</a:t>
            </a:r>
          </a:p>
          <a:p>
            <a:pPr marL="880110" lvl="1" indent="-514350"/>
            <a:r>
              <a:rPr lang="he-IL" dirty="0"/>
              <a:t>מודל 5 הכוחות של פורטר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he-IL" dirty="0"/>
              <a:t>מיצאו את גורמי המפתח להצלחה</a:t>
            </a:r>
          </a:p>
          <a:p>
            <a:pPr marL="804940" lvl="1" indent="-514350"/>
            <a:r>
              <a:rPr lang="en-US" dirty="0"/>
              <a:t>key success factors</a:t>
            </a:r>
            <a:endParaRPr lang="he-IL" dirty="0"/>
          </a:p>
          <a:p>
            <a:pPr marL="804940" lvl="1" indent="-514350"/>
            <a:r>
              <a:rPr lang="he-IL" dirty="0"/>
              <a:t>יכולים להשתנות מפלח שוק אחד לאחר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he-IL" dirty="0"/>
              <a:t>בחרו תחום:</a:t>
            </a:r>
            <a:r>
              <a:rPr lang="en-US" dirty="0"/>
              <a:t> </a:t>
            </a:r>
            <a:r>
              <a:rPr lang="he-IL" dirty="0"/>
              <a:t>באילו פלחים תתחרו?</a:t>
            </a:r>
          </a:p>
          <a:p>
            <a:pPr marL="880110" lvl="1" indent="-514350"/>
            <a:r>
              <a:rPr lang="he-IL" dirty="0"/>
              <a:t>דוגמה: האם כדאי לטויוטה להיכנס לפלח רכבי הפאר בדרום אמריקה?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8198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EC2793-F818-4D48-95DD-F5BB78E86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3" y="1114216"/>
            <a:ext cx="7745446" cy="462956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he-IL" b="1" dirty="0"/>
              <a:t>תרגיל: </a:t>
            </a:r>
            <a:r>
              <a:rPr lang="he-IL" dirty="0"/>
              <a:t>איך הייתם מפלחים את שוק המסעדות בעיר שלכם?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e-IL" dirty="0"/>
              <a:t>בחרו שני ממדים ובנו מטריצה.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e-IL" dirty="0"/>
              <a:t>אילו פלחי שוק אטרקטיביים יותר לדעתכם (פוטנציאל רווח)?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10A44CF1-9B8E-B751-4BB0-5E5BD61B41F5}"/>
              </a:ext>
            </a:extLst>
          </p:cNvPr>
          <p:cNvGraphicFramePr>
            <a:graphicFrameLocks noGrp="1"/>
          </p:cNvGraphicFramePr>
          <p:nvPr/>
        </p:nvGraphicFramePr>
        <p:xfrm>
          <a:off x="2145628" y="3429000"/>
          <a:ext cx="7272811" cy="286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973">
                  <a:extLst>
                    <a:ext uri="{9D8B030D-6E8A-4147-A177-3AD203B41FA5}">
                      <a16:colId xmlns:a16="http://schemas.microsoft.com/office/drawing/2014/main" val="2592908059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2312652168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3519929034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3531802687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2160088760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236710724"/>
                    </a:ext>
                  </a:extLst>
                </a:gridCol>
                <a:gridCol w="1038973">
                  <a:extLst>
                    <a:ext uri="{9D8B030D-6E8A-4147-A177-3AD203B41FA5}">
                      <a16:colId xmlns:a16="http://schemas.microsoft.com/office/drawing/2014/main" val="2274629900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אוסטרליה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אפריקה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אירופה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אסיה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דרום אמריקה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700" dirty="0"/>
                        <a:t>צפון אמריקה</a:t>
                      </a:r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619481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משפחתי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0697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פאר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13289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טנדר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083997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ספורט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03305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GB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700" b="1" dirty="0"/>
                        <a:t>מיני</a:t>
                      </a:r>
                      <a:endParaRPr lang="en-GB" sz="17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927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70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rketing_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Marketing_16x9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80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1791</Words>
  <Application>Microsoft Office PowerPoint</Application>
  <PresentationFormat>מסך רחב</PresentationFormat>
  <Paragraphs>261</Paragraphs>
  <Slides>42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42</vt:i4>
      </vt:variant>
    </vt:vector>
  </HeadingPairs>
  <TitlesOfParts>
    <vt:vector size="46" baseType="lpstr">
      <vt:lpstr>Alef</vt:lpstr>
      <vt:lpstr>Arial</vt:lpstr>
      <vt:lpstr>Corbel</vt:lpstr>
      <vt:lpstr>Marketing_16x9</vt:lpstr>
      <vt:lpstr> 4. סביבה</vt:lpstr>
      <vt:lpstr>מהם המאפיינים של אסטרטגיות מוצלחות?</vt:lpstr>
      <vt:lpstr>מה קובע את רמת הרווחיות בתעשייה?</vt:lpstr>
      <vt:lpstr>מצגת של PowerPoint‏</vt:lpstr>
      <vt:lpstr>מצגת של PowerPoint‏</vt:lpstr>
      <vt:lpstr>המודל של פורטר:  הרווחיות של תעשייה מסוימת נקבעת על ידי 5 כוחות תחרותיים </vt:lpstr>
      <vt:lpstr>1. מוצרים תחליפיים</vt:lpstr>
      <vt:lpstr>2. איום של כניסה לשוק</vt:lpstr>
      <vt:lpstr>איום של כניסה לשוק: מקורות של חסמי כניסה  (כלומר – מה מקטין את האיום?)</vt:lpstr>
      <vt:lpstr>3. יריבות בין מתחרים קיימים</vt:lpstr>
      <vt:lpstr>4. כוח המיקוח של הלקוחות</vt:lpstr>
      <vt:lpstr>5. כוח המיקוח של הספקים</vt:lpstr>
      <vt:lpstr>שימוש במודל כדי לחזות את הרווחיות העתידית של תעשייה/ענף  (למשל, כדי לדעת איפה להשקיע)</vt:lpstr>
      <vt:lpstr>מה ההנהלה יכולה לעשות עם ניתוח שמבוסס על המודל? </vt:lpstr>
      <vt:lpstr>שימו לב!</vt:lpstr>
      <vt:lpstr>דיון - איך אפשר להסביר בעזרת המודל של פורטר: - מדוע נפלה הרווחיות של חברות הסלולר? - מדוע נעלמו חנויות הדיסקים? - מדוע רווחיות הבנקים בארץ גבוהה?</vt:lpstr>
      <vt:lpstr>דיון - תעשיית התעופה:  מהי השפעת השינויים הבאים על הרווחיות, ומדוע? - רשת האינטרנט - מדיניות השמיים הפתוחים - הוזלת מחיר הנסיעה ברכבת - ייצור מטוסים זולים בסין </vt:lpstr>
      <vt:lpstr>מצגת של PowerPoint‏</vt:lpstr>
      <vt:lpstr>Video: The Five Competitive Forces That Shape Strategy</vt:lpstr>
      <vt:lpstr>מצגת של PowerPoint‏</vt:lpstr>
      <vt:lpstr>שוק של מנצחים   Winner-takes-all market</vt:lpstr>
      <vt:lpstr>הרחבת מודל 5 הכוחות: מוצרים משלימים</vt:lpstr>
      <vt:lpstr>המודל המורחב של פורטר: גם ליצרני מוצרים משלימים יש כוח מיקוח! (Complementors) </vt:lpstr>
      <vt:lpstr>2 מוצרים משלימים:  מי מרוויח?</vt:lpstr>
      <vt:lpstr>דיון</vt:lpstr>
      <vt:lpstr> סביבה – נושאים נוספים</vt:lpstr>
      <vt:lpstr>גורמי מפתח להצלחה key success factors </vt:lpstr>
      <vt:lpstr>דוגמה – תעשיית התעופה</vt:lpstr>
      <vt:lpstr>דוגמה נוספת – תעשיית האופנה</vt:lpstr>
      <vt:lpstr>מצגת של PowerPoint‏</vt:lpstr>
      <vt:lpstr>מהם המאפיינים של אסטרטגיות מוצלחות?</vt:lpstr>
      <vt:lpstr>תורת המשחקים</vt:lpstr>
      <vt:lpstr>מצגת של PowerPoint‏</vt:lpstr>
      <vt:lpstr>תורת המשחקים - דילמת האסיר </vt:lpstr>
      <vt:lpstr>איך תורת המשחקים עוזרת לי?</vt:lpstr>
      <vt:lpstr>הגדרת  התעשייה/השוק</vt:lpstr>
      <vt:lpstr>איך מגדירים?</vt:lpstr>
      <vt:lpstr>מצגת של PowerPoint‏</vt:lpstr>
      <vt:lpstr>פילוח</vt:lpstr>
      <vt:lpstr>איך לפלח?  </vt:lpstr>
      <vt:lpstr>איך לפלח? 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יונתני משה</dc:creator>
  <cp:lastModifiedBy>יונתני משה</cp:lastModifiedBy>
  <cp:revision>26</cp:revision>
  <dcterms:created xsi:type="dcterms:W3CDTF">2025-02-11T04:26:39Z</dcterms:created>
  <dcterms:modified xsi:type="dcterms:W3CDTF">2026-03-25T10:26:17Z</dcterms:modified>
</cp:coreProperties>
</file>